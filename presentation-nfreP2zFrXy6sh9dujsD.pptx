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
  </p:notesMasterIdLst>
  <p:sldIdLst>
    <p:sldId id="257" r:id="rId12"/>
    <p:sldId id="258" r:id="rId13"/>
    <p:sldId id="259" r:id="rId14"/>
    <p:sldId id="260" r:id="rId15"/>
    <p:sldId id="261" r:id="rId16"/>
    <p:sldId id="262" r:id="rId17"/>
    <p:sldId id="263" r:id="rId18"/>
    <p:sldId id="264" r:id="rId19"/>
    <p:sldId id="265" r:id="rId20"/>
    <p:sldId id="266" r:id="rId21"/>
  </p:sldIdLst>
  <p:sldSz cx="9144000" cy="5143500" type="screen16x9"/>
  <p:notesSz cx="6858000" cy="9144000"/>
  <p:embeddedFontLst>
    <p:embeddedFont>
      <p:font typeface="Proxima Nova" panose="0200050603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42" d="100"/>
          <a:sy n="142" d="100"/>
        </p:scale>
        <p:origin x="192" y="3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Autosys Monitoring Tool creates measurable value across operations. By automating the monitoring process, it strengthens system reliability and reduces operational overhead. Teams can focus on optimization rather than manual triage, and management gains clear visibility into performance trends. Together, these benefits translate into a more resilient and insight-driven data platform.</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Missed SLAs are not just operational challenges—they directly affect business performance and client trust. Manual job monitoring and delayed detection of failures cause downstream delays, making teams reactive rather than proactive. Improved visibility can significantly enhance reliability and empower data-driven operational decisions, reducing both downtime and effort.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Welcome everyone. Today’s presentation introduces the Autosys Monitoring Tool—a solution designed to address visibility and reliability challenges in batch job execution. Our goal is to enhance control over job monitoring, reduce missed SLAs, and ensure early detection of potential issues. The following slides will walk through the current challenges, proposed solution, architecture, and the strategic benefits for the organization.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Control Data Platform currently faces operational blind spots in Autosys job execution. Long-running or stalled jobs often go unnoticed until they impact downstream processes. Without proactive alerting, operations teams rely on manual checks and delayed escalations. Furthermore, the absence of consolidated reporting complicates root-cause analysis and daily performance tracking. These visibility gaps directly contribute to missed SLAs and inefficiencies across critical data pipelines.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Autosys Monitoring Tool offers a comprehensive set of functionalities that go beyond basic job tracking. It evaluates job start times and durations, detects failures early, and analyzes dependency chains to assess potential impacts. The system’s reporting component then aggregates these insights into consolidated dashboards, helping both technical and management teams quickly grasp operational health.</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next evolution of the Autosys Monitoring Tool integrates AI to move from reactive to predictive operations. By analyzing historical job performance, machine learning models can anticipate failures before they occur. Intelligent root cause analysis and self-healing workflows will further automate recovery actions, paving the way for a truly autonomous and resilient monitoring ecosystem.</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Implementation will follow a structured, four-phase approach. Starting with design and planning, we establish scope and metadata architecture. The development phase builds the monitoring engine and alerting workflows. Rigorous testing ensures system accuracy before rollout, where teams are trained to fully leverage monitoring dashboards and respond efficiently to alerts.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conceptual architecture illustrates the end-to-end data flow of the Autosys Monitoring Tool. Autosys provides raw job execution data to the monitoring engine, which then performs validation and anomaly detection. Results are passed to the reporting and alerting layer, ensuring operational teams have actionable insights through unified dashboards and alerts.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conclusion, the Autosys Monitoring Tool represents a key step in modernizing batch operations management. It directly supports the organization’s mission to achieve proactive, reliable, and insight-driven data operations. The immediate focus should be on completing deployment and embedding the tool into daily workflows, while strategically advancing toward AI-driven automation in the future.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proposed Autosys Monitoring Tool automates and centralizes job tracking. It collects execution data, analyzes performance, and issues alerts—all without manual intervention. The goal is to improve operational visibility, reduce response time, and ensure critical workflows meet their SLAs through proactive management.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bg>
      <p:bgPr>
        <a:solidFill>
          <a:schemeClr val="dk1"/>
        </a:solidFill>
        <a:effectLst/>
      </p:bgPr>
    </p:bg>
    <p:spTree>
      <p:nvGrpSpPr>
        <p:cNvPr id="1" name="Shape 13"/>
        <p:cNvGrpSpPr/>
        <p:nvPr/>
      </p:nvGrpSpPr>
      <p:grpSpPr>
        <a:xfrm>
          <a:off x="0" y="0"/>
          <a:ext cx="0" cy="0"/>
          <a:chOff x="0" y="0"/>
          <a:chExt cx="0" cy="0"/>
        </a:xfrm>
      </p:grpSpPr>
      <p:cxnSp>
        <p:nvCxnSpPr>
          <p:cNvPr id="14" name="Google Shape;14;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5" name="Google Shape;15;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304875"/>
            <a:ext cx="85206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4"/>
          <p:cNvSpPr txBox="1">
            <a:spLocks noGrp="1"/>
          </p:cNvSpPr>
          <p:nvPr>
            <p:ph type="subTitle" idx="2"/>
          </p:nvPr>
        </p:nvSpPr>
        <p:spPr>
          <a:xfrm>
            <a:off x="387975" y="789025"/>
            <a:ext cx="8520600" cy="833100"/>
          </a:xfrm>
          <a:prstGeom prst="rect">
            <a:avLst/>
          </a:prstGeom>
        </p:spPr>
        <p:txBody>
          <a:bodyPr spcFirstLastPara="1" wrap="square" lIns="91425" tIns="91425" rIns="91425" bIns="91425" anchor="t" anchorCtr="0">
            <a:normAutofit/>
          </a:bodyPr>
          <a:lstStyle>
            <a:lvl1pPr lvl="0">
              <a:spcBef>
                <a:spcPts val="0"/>
              </a:spcBef>
              <a:spcAft>
                <a:spcPts val="0"/>
              </a:spcAft>
              <a:buSzPts val="15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userDrawn="1">
  <p:cSld name="TITLE_AND_BODY_1">
    <p:spTree>
      <p:nvGrpSpPr>
        <p:cNvPr id="1" name="Shape 23"/>
        <p:cNvGrpSpPr/>
        <p:nvPr/>
      </p:nvGrpSpPr>
      <p:grpSpPr>
        <a:xfrm>
          <a:off x="0" y="0"/>
          <a:ext cx="0" cy="0"/>
          <a:chOff x="0" y="0"/>
          <a:chExt cx="0" cy="0"/>
        </a:xfrm>
      </p:grpSpPr>
      <p:sp>
        <p:nvSpPr>
          <p:cNvPr id="24" name="Google Shape;24;p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title" hasCustomPrompt="1"/>
          </p:nvPr>
        </p:nvSpPr>
        <p:spPr>
          <a:xfrm>
            <a:off x="311700" y="0"/>
            <a:ext cx="8520600" cy="712925"/>
          </a:xfrm>
          <a:prstGeom prst="rect">
            <a:avLst/>
          </a:prstGeom>
        </p:spPr>
        <p:txBody>
          <a:bodyPr spcFirstLastPara="1" wrap="square" lIns="91425" tIns="91425" rIns="91425" bIns="91425" anchor="ctr"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dirty="0"/>
              <a:t>Agenda</a:t>
            </a:r>
            <a:endParaRPr dirty="0"/>
          </a:p>
        </p:txBody>
      </p:sp>
      <p:sp>
        <p:nvSpPr>
          <p:cNvPr id="26" name="Google Shape;26;p5"/>
          <p:cNvSpPr txBox="1">
            <a:spLocks noGrp="1"/>
          </p:cNvSpPr>
          <p:nvPr>
            <p:ph type="body" idx="1"/>
          </p:nvPr>
        </p:nvSpPr>
        <p:spPr>
          <a:xfrm>
            <a:off x="311700" y="1194734"/>
            <a:ext cx="8520600" cy="3850965"/>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dirty="0"/>
          </a:p>
        </p:txBody>
      </p:sp>
      <p:sp>
        <p:nvSpPr>
          <p:cNvPr id="27" name="Google Shape;27;p5"/>
          <p:cNvSpPr txBox="1">
            <a:spLocks noGrp="1"/>
          </p:cNvSpPr>
          <p:nvPr>
            <p:ph type="sldNum" idx="12"/>
          </p:nvPr>
        </p:nvSpPr>
        <p:spPr>
          <a:xfrm>
            <a:off x="8832297" y="4863993"/>
            <a:ext cx="311411" cy="192824"/>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10" name="Subtitle 1">
            <a:extLst>
              <a:ext uri="{FF2B5EF4-FFF2-40B4-BE49-F238E27FC236}">
                <a16:creationId xmlns:a16="http://schemas.microsoft.com/office/drawing/2014/main" id="{0D296A4F-FF01-A06E-7AAA-3D203B6399A4}"/>
              </a:ext>
            </a:extLst>
          </p:cNvPr>
          <p:cNvSpPr>
            <a:spLocks noGrp="1"/>
          </p:cNvSpPr>
          <p:nvPr>
            <p:ph type="subTitle" idx="13"/>
          </p:nvPr>
        </p:nvSpPr>
        <p:spPr>
          <a:xfrm>
            <a:off x="311699" y="712926"/>
            <a:ext cx="8520599" cy="481810"/>
          </a:xfrm>
        </p:spPr>
        <p:txBody>
          <a:bodyPr tIns="0" anchor="t">
            <a:normAutofit/>
          </a:bodyPr>
          <a:lstStyle>
            <a:lvl1pPr marL="0" indent="0" algn="l">
              <a:lnSpc>
                <a:spcPct val="100000"/>
              </a:lnSpc>
              <a:buNone/>
              <a:defRPr sz="16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body" idx="1"/>
          </p:nvPr>
        </p:nvSpPr>
        <p:spPr>
          <a:xfrm>
            <a:off x="311700" y="13810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a:spLocks noGrp="1"/>
          </p:cNvSpPr>
          <p:nvPr>
            <p:ph type="subTitle" idx="3"/>
          </p:nvPr>
        </p:nvSpPr>
        <p:spPr>
          <a:xfrm>
            <a:off x="386975" y="8640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34" name="Google Shape;34;p6"/>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w="19050" cap="flat" cmpd="sng">
            <a:solidFill>
              <a:schemeClr val="dk1"/>
            </a:solidFill>
            <a:prstDash val="solid"/>
            <a:round/>
            <a:headEnd type="none" w="sm" len="sm"/>
            <a:tailEnd type="none" w="sm" len="sm"/>
          </a:ln>
        </p:spPr>
      </p:cxn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48" name="Google Shape;48;p10"/>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 name="Google Shape;49;p10"/>
          <p:cNvSpPr txBox="1">
            <a:spLocks noGrp="1"/>
          </p:cNvSpPr>
          <p:nvPr>
            <p:ph type="body" idx="1"/>
          </p:nvPr>
        </p:nvSpPr>
        <p:spPr>
          <a:xfrm>
            <a:off x="3117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0" name="Google Shape;50;p10"/>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1" name="Google Shape;51;p10"/>
          <p:cNvSpPr txBox="1">
            <a:spLocks noGrp="1"/>
          </p:cNvSpPr>
          <p:nvPr>
            <p:ph type="subTitle" idx="3"/>
          </p:nvPr>
        </p:nvSpPr>
        <p:spPr>
          <a:xfrm>
            <a:off x="386975" y="7878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52" name="Google Shape;52;p10"/>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
        <p:nvSpPr>
          <p:cNvPr id="53" name="Google Shape;53;p10"/>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2"/>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60" name="Google Shape;60;p12"/>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 Id="rId3"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notesSlide" Target="../notesSlides/notesSlide10.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Autosys Monitoring Tool</a:t>
            </a:r>
          </a:p>
        </p:txBody>
      </p:sp>
      <p:sp>
        <p:nvSpPr>
          <p:cNvPr id="4" name="Subtitle 3"/>
          <p:cNvSpPr>
            <a:spLocks noGrp="1"/>
          </p:cNvSpPr>
          <p:nvPr>
            <p:ph type="subTitle" idx="13"/>
          </p:nvPr>
        </p:nvSpPr>
        <p:spPr/>
        <p:txBody>
          <a:bodyPr>
            <a:normAutofit/>
          </a:bodyPr>
          <a:lstStyle/>
          <a:p>
            <a:r>
              <a:t>Enhancing Job Execution Visibility and Reliability</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41148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508670"/>
            <a:ext cx="4114800" cy="3205906"/>
          </a:xfrm>
          <a:prstGeom prst="rect">
            <a:avLst/>
          </a:prstGeom>
          <a:noFill/>
          <a:ln>
            <a:noFill/>
          </a:ln>
        </p:spPr>
        <p:txBody>
          <a:bodyPr wrap="square" bIns="190500" lIns="165100" rIns="0" tIns="0" anchor="t">
            <a:spAutoFit/>
          </a:bodyPr>
          <a:lstStyle/>
          <a:p>
            <a:pPr algn="l" marL="228600" indent="-91440">
              <a:spcBef>
                <a:spcPts val="0"/>
              </a:spcBef>
              <a:spcAft>
                <a:spcPts val="0"/>
              </a:spcAft>
              <a:buSzPct val="116666"/>
              <a:buFont typeface="Arial"/>
              <a:buChar char="•"/>
            </a:pPr>
            <a:r>
              <a:rPr b="1" i="0" sz="1600">
                <a:solidFill>
                  <a:srgbClr val="1F2728"/>
                </a:solidFill>
                <a:latin typeface="Roboto"/>
              </a:rPr>
              <a:t>Objective:</a:t>
            </a:r>
            <a:r>
              <a:rPr b="0" i="0" sz="1600">
                <a:solidFill>
                  <a:srgbClr val="1F2728"/>
                </a:solidFill>
                <a:latin typeface="Roboto"/>
              </a:rPr>
              <a:t> Introduce an automated monitoring solution to enhance real-time visibility into Autosys job executions and improve operational efficiency across data platforms.</a:t>
            </a:r>
          </a:p>
          <a:p>
            <a:pPr lvl="1" algn="l" marL="228600" indent="-91440">
              <a:spcBef>
                <a:spcPts val="0"/>
              </a:spcBef>
              <a:spcAft>
                <a:spcPts val="0"/>
              </a:spcAft>
              <a:buSzPct val="116666"/>
              <a:buFont typeface="Arial"/>
              <a:buChar char="•"/>
            </a:pPr>
            <a:r>
              <a:rPr b="1" i="0" sz="1600">
                <a:solidFill>
                  <a:srgbClr val="1F2728"/>
                </a:solidFill>
                <a:latin typeface="Roboto"/>
              </a:rPr>
              <a:t>Audience:</a:t>
            </a:r>
            <a:r>
              <a:rPr b="0" i="0" sz="1600">
                <a:solidFill>
                  <a:srgbClr val="1F2728"/>
                </a:solidFill>
                <a:latin typeface="Roboto"/>
              </a:rPr>
              <a:t> Management and technical leadership teams responsible for data operations and service reliability.</a:t>
            </a:r>
          </a:p>
          <a:p>
            <a:pPr lvl="1" algn="l" marL="228600" indent="-91440">
              <a:spcBef>
                <a:spcPts val="0"/>
              </a:spcBef>
              <a:spcAft>
                <a:spcPts val="0"/>
              </a:spcAft>
              <a:buSzPct val="116666"/>
              <a:buFont typeface="Arial"/>
              <a:buChar char="•"/>
            </a:pPr>
            <a:r>
              <a:rPr b="1" i="0" sz="1600">
                <a:solidFill>
                  <a:srgbClr val="1F2728"/>
                </a:solidFill>
                <a:latin typeface="Roboto"/>
              </a:rPr>
              <a:t>Focus Areas:</a:t>
            </a:r>
            <a:r>
              <a:rPr b="0" i="0" sz="1600">
                <a:solidFill>
                  <a:srgbClr val="1F2728"/>
                </a:solidFill>
                <a:latin typeface="Roboto"/>
              </a:rPr>
              <a:t> Operational visibility, proactive alerting, consolidated reporting, and system reliability improvements.</a:t>
            </a:r>
          </a:p>
        </p:txBody>
      </p:sp>
      <p:sp>
        <p:nvSpPr>
          <p:cNvPr id="12" name="Rectangle 11"/>
          <p:cNvSpPr/>
          <p:nvPr/>
        </p:nvSpPr>
        <p:spPr>
          <a:xfrm>
            <a:off x="4648200" y="1508670"/>
            <a:ext cx="4114800" cy="260211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48200" y="1508670"/>
            <a:ext cx="4114800" cy="260211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8200" y="1508670"/>
            <a:ext cx="4114800" cy="2316360"/>
          </a:xfrm>
          <a:prstGeom prst="rect">
            <a:avLst/>
          </a:prstGeom>
          <a:noFill/>
          <a:ln>
            <a:noFill/>
          </a:ln>
        </p:spPr>
        <p:txBody>
          <a:bodyPr wrap="square" bIns="0" lIns="0" rIns="0" tIns="0" anchor="t">
            <a:spAutoFit/>
          </a:bodyPr>
          <a:lstStyle/>
          <a:p>
            <a:pPr algn="l"/>
          </a:p>
        </p:txBody>
      </p:sp>
      <p:pic>
        <p:nvPicPr>
          <p:cNvPr id="15" name="Picture 14" descr="tmpzxuuibkr.png"/>
          <p:cNvPicPr>
            <a:picLocks noChangeAspect="1"/>
          </p:cNvPicPr>
          <p:nvPr/>
        </p:nvPicPr>
        <p:blipFill>
          <a:blip r:embed="rId2"/>
          <a:stretch>
            <a:fillRect/>
          </a:stretch>
        </p:blipFill>
        <p:spPr>
          <a:xfrm>
            <a:off x="4648200" y="1508670"/>
            <a:ext cx="4114800" cy="2316360"/>
          </a:xfrm>
          <a:prstGeom prst="rect">
            <a:avLst/>
          </a:prstGeom>
        </p:spPr>
      </p:pic>
      <p:sp>
        <p:nvSpPr>
          <p:cNvPr id="16" name="Rectangle 15"/>
          <p:cNvSpPr/>
          <p:nvPr/>
        </p:nvSpPr>
        <p:spPr>
          <a:xfrm>
            <a:off x="4648200" y="3901231"/>
            <a:ext cx="4114800" cy="20955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8200" y="3901231"/>
            <a:ext cx="4114800" cy="209550"/>
          </a:xfrm>
          <a:prstGeom prst="rect">
            <a:avLst/>
          </a:prstGeom>
          <a:noFill/>
          <a:ln>
            <a:noFill/>
          </a:ln>
        </p:spPr>
        <p:txBody>
          <a:bodyPr wrap="square" bIns="0" lIns="0" rIns="0" tIns="0" anchor="t">
            <a:spAutoFit/>
          </a:bodyPr>
          <a:lstStyle/>
          <a:p>
            <a:pPr algn="r"/>
            <a:r>
              <a:rPr b="0" i="0" sz="1100">
                <a:solidFill>
                  <a:srgbClr val="1F2728"/>
                </a:solidFill>
                <a:latin typeface="Roboto"/>
              </a:rPr>
              <a:t>Photo by James Lee on Unsplash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Problem Statement</a:t>
            </a:r>
          </a:p>
        </p:txBody>
      </p:sp>
      <p:sp>
        <p:nvSpPr>
          <p:cNvPr id="4" name="Subtitle 3"/>
          <p:cNvSpPr>
            <a:spLocks noGrp="1"/>
          </p:cNvSpPr>
          <p:nvPr>
            <p:ph type="subTitle" idx="13"/>
          </p:nvPr>
        </p:nvSpPr>
        <p:spPr/>
        <p:txBody>
          <a:bodyPr>
            <a:normAutofit/>
          </a:bodyPr>
          <a:lstStyle/>
          <a:p>
            <a:r>
              <a:t>Challenges in Job Execution Visibility and Monitoring</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414263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508670"/>
            <a:ext cx="4142630" cy="3326606"/>
          </a:xfrm>
          <a:prstGeom prst="rect">
            <a:avLst/>
          </a:prstGeom>
          <a:noFill/>
          <a:ln>
            <a:noFill/>
          </a:ln>
        </p:spPr>
        <p:txBody>
          <a:bodyPr wrap="square" bIns="190500" lIns="165100" rIns="0" tIns="0" anchor="t">
            <a:spAutoFit/>
          </a:bodyPr>
          <a:lstStyle/>
          <a:p>
            <a:pPr algn="l" marL="228600" indent="-91440">
              <a:spcBef>
                <a:spcPts val="0"/>
              </a:spcBef>
              <a:spcAft>
                <a:spcPts val="0"/>
              </a:spcAft>
              <a:buSzPct val="111111"/>
              <a:buFont typeface="Arial"/>
              <a:buChar char="•"/>
            </a:pPr>
            <a:r>
              <a:rPr b="1" i="0" sz="1500">
                <a:solidFill>
                  <a:srgbClr val="1F2728"/>
                </a:solidFill>
                <a:latin typeface="Roboto"/>
              </a:rPr>
              <a:t>Delayed Issue Detection:</a:t>
            </a:r>
            <a:r>
              <a:rPr b="0" i="0" sz="1500">
                <a:solidFill>
                  <a:srgbClr val="1F2728"/>
                </a:solidFill>
                <a:latin typeface="Roboto"/>
              </a:rPr>
              <a:t> Jobs running excessively long do not trigger immediate alerts, causing delays in identifying performance or runtime anomalies.</a:t>
            </a:r>
          </a:p>
          <a:p>
            <a:pPr lvl="1" algn="l" marL="228600" indent="-91440">
              <a:spcBef>
                <a:spcPts val="0"/>
              </a:spcBef>
              <a:spcAft>
                <a:spcPts val="0"/>
              </a:spcAft>
              <a:buSzPct val="111111"/>
              <a:buFont typeface="Arial"/>
              <a:buChar char="•"/>
            </a:pPr>
            <a:r>
              <a:rPr b="1" i="0" sz="1500">
                <a:solidFill>
                  <a:srgbClr val="1F2728"/>
                </a:solidFill>
                <a:latin typeface="Roboto"/>
              </a:rPr>
              <a:t>Lack of Proactive Alerts:</a:t>
            </a:r>
            <a:r>
              <a:rPr b="0" i="0" sz="1500">
                <a:solidFill>
                  <a:srgbClr val="1F2728"/>
                </a:solidFill>
                <a:latin typeface="Roboto"/>
              </a:rPr>
              <a:t> The absence of automated notifications for stalled or failed jobs increases the likelihood of downstream process failures and SLA breaches.</a:t>
            </a:r>
          </a:p>
          <a:p>
            <a:pPr lvl="1" algn="l" marL="228600" indent="-91440">
              <a:spcBef>
                <a:spcPts val="0"/>
              </a:spcBef>
              <a:spcAft>
                <a:spcPts val="0"/>
              </a:spcAft>
              <a:buSzPct val="111111"/>
              <a:buFont typeface="Arial"/>
              <a:buChar char="•"/>
            </a:pPr>
            <a:r>
              <a:rPr b="1" i="0" sz="1500">
                <a:solidFill>
                  <a:srgbClr val="1F2728"/>
                </a:solidFill>
                <a:latin typeface="Roboto"/>
              </a:rPr>
              <a:t>Limited Visibility:</a:t>
            </a:r>
            <a:r>
              <a:rPr b="0" i="0" sz="1500">
                <a:solidFill>
                  <a:srgbClr val="1F2728"/>
                </a:solidFill>
                <a:latin typeface="Roboto"/>
              </a:rPr>
              <a:t> Inadequate consolidated reporting makes it challenging to assess overall batch health and identify recurring operational patterns.</a:t>
            </a:r>
          </a:p>
        </p:txBody>
      </p:sp>
      <p:sp>
        <p:nvSpPr>
          <p:cNvPr id="12" name="Rectangle 11"/>
          <p:cNvSpPr/>
          <p:nvPr/>
        </p:nvSpPr>
        <p:spPr>
          <a:xfrm>
            <a:off x="4620071" y="1508670"/>
            <a:ext cx="414263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0071" y="1508670"/>
            <a:ext cx="414263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0071" y="1508670"/>
            <a:ext cx="4142630" cy="2332136"/>
          </a:xfrm>
          <a:prstGeom prst="rect">
            <a:avLst/>
          </a:prstGeom>
          <a:noFill/>
          <a:ln>
            <a:noFill/>
          </a:ln>
        </p:spPr>
        <p:txBody>
          <a:bodyPr wrap="square" bIns="0" lIns="0" rIns="0" tIns="0" anchor="t">
            <a:spAutoFit/>
          </a:bodyPr>
          <a:lstStyle/>
          <a:p>
            <a:pPr algn="l"/>
          </a:p>
        </p:txBody>
      </p:sp>
      <p:pic>
        <p:nvPicPr>
          <p:cNvPr id="15" name="Picture 14" descr="tmph481k9t2.png"/>
          <p:cNvPicPr>
            <a:picLocks noChangeAspect="1"/>
          </p:cNvPicPr>
          <p:nvPr/>
        </p:nvPicPr>
        <p:blipFill>
          <a:blip r:embed="rId2"/>
          <a:stretch>
            <a:fillRect/>
          </a:stretch>
        </p:blipFill>
        <p:spPr>
          <a:xfrm>
            <a:off x="4620071" y="1508670"/>
            <a:ext cx="4142630" cy="2332136"/>
          </a:xfrm>
          <a:prstGeom prst="rect">
            <a:avLst/>
          </a:prstGeom>
        </p:spPr>
      </p:pic>
      <p:sp>
        <p:nvSpPr>
          <p:cNvPr id="16" name="Rectangle 15"/>
          <p:cNvSpPr/>
          <p:nvPr/>
        </p:nvSpPr>
        <p:spPr>
          <a:xfrm>
            <a:off x="4620071" y="3917007"/>
            <a:ext cx="4142630" cy="19526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0071" y="3917007"/>
            <a:ext cx="4142630" cy="195262"/>
          </a:xfrm>
          <a:prstGeom prst="rect">
            <a:avLst/>
          </a:prstGeom>
          <a:noFill/>
          <a:ln>
            <a:noFill/>
          </a:ln>
        </p:spPr>
        <p:txBody>
          <a:bodyPr wrap="square" bIns="0" lIns="0" rIns="0" tIns="0" anchor="t">
            <a:spAutoFit/>
          </a:bodyPr>
          <a:lstStyle/>
          <a:p>
            <a:pPr algn="r"/>
            <a:r>
              <a:rPr b="0" i="0" sz="1000">
                <a:solidFill>
                  <a:srgbClr val="1F2728"/>
                </a:solidFill>
                <a:latin typeface="Roboto"/>
              </a:rPr>
              <a:t>Photo by Luke Chesser on Unsplash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Business Impact</a:t>
            </a:r>
          </a:p>
        </p:txBody>
      </p:sp>
      <p:sp>
        <p:nvSpPr>
          <p:cNvPr id="4" name="Subtitle 3"/>
          <p:cNvSpPr>
            <a:spLocks noGrp="1"/>
          </p:cNvSpPr>
          <p:nvPr>
            <p:ph type="subTitle" idx="13"/>
          </p:nvPr>
        </p:nvSpPr>
        <p:spPr/>
        <p:txBody>
          <a:bodyPr>
            <a:normAutofit/>
          </a:bodyPr>
          <a:lstStyle/>
          <a:p>
            <a:r>
              <a:t>Risks of Missed SLAs and Operational Delays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508670"/>
            <a:ext cx="2717452"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508670"/>
            <a:ext cx="2717452"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508670"/>
            <a:ext cx="2717452"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34851"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34851" y="1508670"/>
            <a:ext cx="304800" cy="304800"/>
          </a:xfrm>
          <a:prstGeom prst="rect">
            <a:avLst/>
          </a:prstGeom>
          <a:noFill/>
          <a:ln>
            <a:noFill/>
          </a:ln>
        </p:spPr>
        <p:txBody>
          <a:bodyPr wrap="square" bIns="0" lIns="0" rIns="0" tIns="0" anchor="t">
            <a:spAutoFit/>
          </a:bodyPr>
          <a:lstStyle/>
          <a:p>
            <a:pPr algn="ctr"/>
          </a:p>
        </p:txBody>
      </p:sp>
      <p:pic>
        <p:nvPicPr>
          <p:cNvPr id="16" name="Picture 15" descr="tmpaigi7ki2.png"/>
          <p:cNvPicPr>
            <a:picLocks noChangeAspect="1"/>
          </p:cNvPicPr>
          <p:nvPr/>
        </p:nvPicPr>
        <p:blipFill>
          <a:blip r:embed="rId2"/>
          <a:stretch>
            <a:fillRect/>
          </a:stretch>
        </p:blipFill>
        <p:spPr>
          <a:xfrm>
            <a:off x="1434851" y="1508670"/>
            <a:ext cx="304800" cy="304800"/>
          </a:xfrm>
          <a:prstGeom prst="rect">
            <a:avLst/>
          </a:prstGeom>
        </p:spPr>
      </p:pic>
      <p:sp>
        <p:nvSpPr>
          <p:cNvPr id="17" name="TextBox 16"/>
          <p:cNvSpPr txBox="1"/>
          <p:nvPr/>
        </p:nvSpPr>
        <p:spPr>
          <a:xfrm>
            <a:off x="228600" y="1927770"/>
            <a:ext cx="2717452" cy="228600"/>
          </a:xfrm>
          <a:prstGeom prst="rect">
            <a:avLst/>
          </a:prstGeom>
          <a:noFill/>
          <a:ln>
            <a:noFill/>
          </a:ln>
        </p:spPr>
        <p:txBody>
          <a:bodyPr wrap="square" bIns="0" lIns="0" rIns="0" tIns="0" anchor="t">
            <a:spAutoFit/>
          </a:bodyPr>
          <a:lstStyle/>
          <a:p>
            <a:pPr algn="ctr"/>
            <a:r>
              <a:rPr b="1" i="0" sz="1300">
                <a:solidFill>
                  <a:srgbClr val="1F2728"/>
                </a:solidFill>
                <a:latin typeface="Roboto"/>
              </a:rPr>
              <a:t>SLA Breaches</a:t>
            </a:r>
          </a:p>
          <a:p>
            <a:pPr algn="ctr">
              <a:spcAft>
                <a:spcPts val="1200"/>
              </a:spcAft>
            </a:pPr>
            <a:r>
              <a:rPr b="0" i="0" sz="1400">
                <a:solidFill>
                  <a:srgbClr val="1F2728"/>
                </a:solidFill>
                <a:latin typeface="Roboto"/>
              </a:rPr>
              <a:t>Without early alerts, delayed job executions cascade through dependent workflows, increasing the risk of missed SLAs and business disruptions.</a:t>
            </a:r>
          </a:p>
        </p:txBody>
      </p:sp>
      <p:sp>
        <p:nvSpPr>
          <p:cNvPr id="18" name="Rectangle 17"/>
          <p:cNvSpPr/>
          <p:nvPr/>
        </p:nvSpPr>
        <p:spPr>
          <a:xfrm>
            <a:off x="3136701" y="1508670"/>
            <a:ext cx="2717452"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36701" y="1508670"/>
            <a:ext cx="2717452"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36701" y="1508670"/>
            <a:ext cx="2717452"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2953"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2953" y="1508670"/>
            <a:ext cx="304800" cy="304800"/>
          </a:xfrm>
          <a:prstGeom prst="rect">
            <a:avLst/>
          </a:prstGeom>
          <a:noFill/>
          <a:ln>
            <a:noFill/>
          </a:ln>
        </p:spPr>
        <p:txBody>
          <a:bodyPr wrap="square" bIns="0" lIns="0" rIns="0" tIns="0" anchor="t">
            <a:spAutoFit/>
          </a:bodyPr>
          <a:lstStyle/>
          <a:p>
            <a:pPr algn="ctr"/>
          </a:p>
        </p:txBody>
      </p:sp>
      <p:pic>
        <p:nvPicPr>
          <p:cNvPr id="23" name="Picture 22" descr="tmpuolm0gsm.png"/>
          <p:cNvPicPr>
            <a:picLocks noChangeAspect="1"/>
          </p:cNvPicPr>
          <p:nvPr/>
        </p:nvPicPr>
        <p:blipFill>
          <a:blip r:embed="rId3"/>
          <a:stretch>
            <a:fillRect/>
          </a:stretch>
        </p:blipFill>
        <p:spPr>
          <a:xfrm>
            <a:off x="4342953" y="1508670"/>
            <a:ext cx="304800" cy="304800"/>
          </a:xfrm>
          <a:prstGeom prst="rect">
            <a:avLst/>
          </a:prstGeom>
        </p:spPr>
      </p:pic>
      <p:sp>
        <p:nvSpPr>
          <p:cNvPr id="24" name="TextBox 23"/>
          <p:cNvSpPr txBox="1"/>
          <p:nvPr/>
        </p:nvSpPr>
        <p:spPr>
          <a:xfrm>
            <a:off x="3136701" y="1927770"/>
            <a:ext cx="2717452" cy="228600"/>
          </a:xfrm>
          <a:prstGeom prst="rect">
            <a:avLst/>
          </a:prstGeom>
          <a:noFill/>
          <a:ln>
            <a:noFill/>
          </a:ln>
        </p:spPr>
        <p:txBody>
          <a:bodyPr wrap="square" bIns="0" lIns="0" rIns="0" tIns="0" anchor="t">
            <a:spAutoFit/>
          </a:bodyPr>
          <a:lstStyle/>
          <a:p>
            <a:pPr algn="ctr"/>
            <a:r>
              <a:rPr b="1" i="0" sz="1300">
                <a:solidFill>
                  <a:srgbClr val="1F2728"/>
                </a:solidFill>
                <a:latin typeface="Roboto"/>
              </a:rPr>
              <a:t>Operational Inefficiency</a:t>
            </a:r>
          </a:p>
          <a:p>
            <a:pPr algn="ctr">
              <a:spcAft>
                <a:spcPts val="1200"/>
              </a:spcAft>
            </a:pPr>
            <a:r>
              <a:rPr b="0" i="0" sz="1400">
                <a:solidFill>
                  <a:srgbClr val="1F2728"/>
                </a:solidFill>
                <a:latin typeface="Roboto"/>
              </a:rPr>
              <a:t>Manual monitoring consumes valuable engineering time and introduces delays in triaging and recovery, reducing overall productivity.</a:t>
            </a:r>
          </a:p>
        </p:txBody>
      </p:sp>
      <p:sp>
        <p:nvSpPr>
          <p:cNvPr id="25" name="Rectangle 24"/>
          <p:cNvSpPr/>
          <p:nvPr/>
        </p:nvSpPr>
        <p:spPr>
          <a:xfrm>
            <a:off x="6044803" y="1508670"/>
            <a:ext cx="2717899"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44803" y="1508670"/>
            <a:ext cx="2717899"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44803" y="1508670"/>
            <a:ext cx="2717899"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51352"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51352" y="1508670"/>
            <a:ext cx="304800" cy="304800"/>
          </a:xfrm>
          <a:prstGeom prst="rect">
            <a:avLst/>
          </a:prstGeom>
          <a:noFill/>
          <a:ln>
            <a:noFill/>
          </a:ln>
        </p:spPr>
        <p:txBody>
          <a:bodyPr wrap="square" bIns="0" lIns="0" rIns="0" tIns="0" anchor="t">
            <a:spAutoFit/>
          </a:bodyPr>
          <a:lstStyle/>
          <a:p>
            <a:pPr algn="ctr"/>
          </a:p>
        </p:txBody>
      </p:sp>
      <p:pic>
        <p:nvPicPr>
          <p:cNvPr id="30" name="Picture 29" descr="tmp_x6yncj_.png"/>
          <p:cNvPicPr>
            <a:picLocks noChangeAspect="1"/>
          </p:cNvPicPr>
          <p:nvPr/>
        </p:nvPicPr>
        <p:blipFill>
          <a:blip r:embed="rId4"/>
          <a:stretch>
            <a:fillRect/>
          </a:stretch>
        </p:blipFill>
        <p:spPr>
          <a:xfrm>
            <a:off x="7251352" y="1508670"/>
            <a:ext cx="304800" cy="304800"/>
          </a:xfrm>
          <a:prstGeom prst="rect">
            <a:avLst/>
          </a:prstGeom>
        </p:spPr>
      </p:pic>
      <p:sp>
        <p:nvSpPr>
          <p:cNvPr id="31" name="TextBox 30"/>
          <p:cNvSpPr txBox="1"/>
          <p:nvPr/>
        </p:nvSpPr>
        <p:spPr>
          <a:xfrm>
            <a:off x="6044803" y="1927770"/>
            <a:ext cx="2717899" cy="228600"/>
          </a:xfrm>
          <a:prstGeom prst="rect">
            <a:avLst/>
          </a:prstGeom>
          <a:noFill/>
          <a:ln>
            <a:noFill/>
          </a:ln>
        </p:spPr>
        <p:txBody>
          <a:bodyPr wrap="square" bIns="0" lIns="0" rIns="0" tIns="0" anchor="t">
            <a:spAutoFit/>
          </a:bodyPr>
          <a:lstStyle/>
          <a:p>
            <a:pPr algn="ctr"/>
            <a:r>
              <a:rPr b="1" i="0" sz="1300">
                <a:solidFill>
                  <a:srgbClr val="1F2728"/>
                </a:solidFill>
                <a:latin typeface="Roboto"/>
              </a:rPr>
              <a:t>Reduced Decision Agility</a:t>
            </a:r>
          </a:p>
          <a:p>
            <a:pPr algn="ctr">
              <a:spcAft>
                <a:spcPts val="1200"/>
              </a:spcAft>
            </a:pPr>
            <a:r>
              <a:rPr b="0" i="0" sz="1400">
                <a:solidFill>
                  <a:srgbClr val="1F2728"/>
                </a:solidFill>
                <a:latin typeface="Roboto"/>
              </a:rPr>
              <a:t>Lack of timely visibility into job health prevents leadership from making proactive operational and resource decisions.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Proposed Solution Overview</a:t>
            </a:r>
          </a:p>
        </p:txBody>
      </p:sp>
      <p:sp>
        <p:nvSpPr>
          <p:cNvPr id="4" name="Subtitle 3"/>
          <p:cNvSpPr>
            <a:spLocks noGrp="1"/>
          </p:cNvSpPr>
          <p:nvPr>
            <p:ph type="subTitle" idx="13"/>
          </p:nvPr>
        </p:nvSpPr>
        <p:spPr/>
        <p:txBody>
          <a:bodyPr>
            <a:normAutofit/>
          </a:bodyPr>
          <a:lstStyle/>
          <a:p>
            <a:r>
              <a:t>Automated Monitoring and Proactive Alerting for Autosys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414263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508670"/>
            <a:ext cx="4142630" cy="3326606"/>
          </a:xfrm>
          <a:prstGeom prst="rect">
            <a:avLst/>
          </a:prstGeom>
          <a:noFill/>
          <a:ln>
            <a:noFill/>
          </a:ln>
        </p:spPr>
        <p:txBody>
          <a:bodyPr wrap="square" bIns="190500" lIns="165100" rIns="0" tIns="0" anchor="t">
            <a:spAutoFit/>
          </a:bodyPr>
          <a:lstStyle/>
          <a:p>
            <a:pPr algn="l" marL="228600" indent="-91440">
              <a:spcBef>
                <a:spcPts val="0"/>
              </a:spcBef>
              <a:spcAft>
                <a:spcPts val="0"/>
              </a:spcAft>
              <a:buSzPct val="111111"/>
              <a:buFont typeface="Arial"/>
              <a:buChar char="•"/>
            </a:pPr>
            <a:r>
              <a:rPr b="1" i="0" sz="1500">
                <a:solidFill>
                  <a:srgbClr val="1F2728"/>
                </a:solidFill>
                <a:latin typeface="Roboto"/>
              </a:rPr>
              <a:t>Automated Monitoring Framework:</a:t>
            </a:r>
            <a:r>
              <a:rPr b="0" i="0" sz="1500">
                <a:solidFill>
                  <a:srgbClr val="1F2728"/>
                </a:solidFill>
                <a:latin typeface="Roboto"/>
              </a:rPr>
              <a:t> Implements a recurring Autosys job that captures job metadata and runtime details from the scheduling environment, eliminating manual oversight.</a:t>
            </a:r>
          </a:p>
          <a:p>
            <a:pPr lvl="1" algn="l" marL="228600" indent="-91440">
              <a:spcBef>
                <a:spcPts val="0"/>
              </a:spcBef>
              <a:spcAft>
                <a:spcPts val="0"/>
              </a:spcAft>
              <a:buSzPct val="111111"/>
              <a:buFont typeface="Arial"/>
              <a:buChar char="•"/>
            </a:pPr>
            <a:r>
              <a:rPr b="1" i="0" sz="1500">
                <a:solidFill>
                  <a:srgbClr val="1F2728"/>
                </a:solidFill>
                <a:latin typeface="Roboto"/>
              </a:rPr>
              <a:t>Centralized Visibility:</a:t>
            </a:r>
            <a:r>
              <a:rPr b="0" i="0" sz="1500">
                <a:solidFill>
                  <a:srgbClr val="1F2728"/>
                </a:solidFill>
                <a:latin typeface="Roboto"/>
              </a:rPr>
              <a:t> Consolidates job status, start time, and duration insights into a unified dashboard for comprehensive visibility.</a:t>
            </a:r>
          </a:p>
          <a:p>
            <a:pPr lvl="1" algn="l" marL="228600" indent="-91440">
              <a:spcBef>
                <a:spcPts val="0"/>
              </a:spcBef>
              <a:spcAft>
                <a:spcPts val="0"/>
              </a:spcAft>
              <a:buSzPct val="111111"/>
              <a:buFont typeface="Arial"/>
              <a:buChar char="•"/>
            </a:pPr>
            <a:r>
              <a:rPr b="1" i="0" sz="1500">
                <a:solidFill>
                  <a:srgbClr val="1F2728"/>
                </a:solidFill>
                <a:latin typeface="Roboto"/>
              </a:rPr>
              <a:t>Proactive Alerting:</a:t>
            </a:r>
            <a:r>
              <a:rPr b="0" i="0" sz="1500">
                <a:solidFill>
                  <a:srgbClr val="1F2728"/>
                </a:solidFill>
                <a:latin typeface="Roboto"/>
              </a:rPr>
              <a:t> Generates early notifications for long-running or failed jobs, allowing teams to mitigate issues before they escalate.</a:t>
            </a:r>
          </a:p>
        </p:txBody>
      </p:sp>
      <p:sp>
        <p:nvSpPr>
          <p:cNvPr id="12" name="Rectangle 11"/>
          <p:cNvSpPr/>
          <p:nvPr/>
        </p:nvSpPr>
        <p:spPr>
          <a:xfrm>
            <a:off x="4620071" y="1508670"/>
            <a:ext cx="414263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0071" y="1508670"/>
            <a:ext cx="414263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0071" y="1508670"/>
            <a:ext cx="4142630" cy="2332136"/>
          </a:xfrm>
          <a:prstGeom prst="rect">
            <a:avLst/>
          </a:prstGeom>
          <a:noFill/>
          <a:ln>
            <a:noFill/>
          </a:ln>
        </p:spPr>
        <p:txBody>
          <a:bodyPr wrap="square" bIns="0" lIns="0" rIns="0" tIns="0" anchor="t">
            <a:spAutoFit/>
          </a:bodyPr>
          <a:lstStyle/>
          <a:p>
            <a:pPr algn="l"/>
          </a:p>
        </p:txBody>
      </p:sp>
      <p:pic>
        <p:nvPicPr>
          <p:cNvPr id="15" name="Picture 14" descr="tmpvcn2vt8l.png"/>
          <p:cNvPicPr>
            <a:picLocks noChangeAspect="1"/>
          </p:cNvPicPr>
          <p:nvPr/>
        </p:nvPicPr>
        <p:blipFill>
          <a:blip r:embed="rId2"/>
          <a:stretch>
            <a:fillRect/>
          </a:stretch>
        </p:blipFill>
        <p:spPr>
          <a:xfrm>
            <a:off x="4620071" y="1508670"/>
            <a:ext cx="4142630" cy="2332136"/>
          </a:xfrm>
          <a:prstGeom prst="rect">
            <a:avLst/>
          </a:prstGeom>
        </p:spPr>
      </p:pic>
      <p:sp>
        <p:nvSpPr>
          <p:cNvPr id="16" name="Rectangle 15"/>
          <p:cNvSpPr/>
          <p:nvPr/>
        </p:nvSpPr>
        <p:spPr>
          <a:xfrm>
            <a:off x="4620071" y="3917007"/>
            <a:ext cx="4142630" cy="19526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0071" y="3917007"/>
            <a:ext cx="4142630" cy="195262"/>
          </a:xfrm>
          <a:prstGeom prst="rect">
            <a:avLst/>
          </a:prstGeom>
          <a:noFill/>
          <a:ln>
            <a:noFill/>
          </a:ln>
        </p:spPr>
        <p:txBody>
          <a:bodyPr wrap="square" bIns="0" lIns="0" rIns="0" tIns="0" anchor="t">
            <a:spAutoFit/>
          </a:bodyPr>
          <a:lstStyle/>
          <a:p>
            <a:pPr algn="r"/>
            <a:r>
              <a:rPr b="0" i="0" sz="1000">
                <a:solidFill>
                  <a:srgbClr val="1F2728"/>
                </a:solidFill>
                <a:latin typeface="Roboto"/>
              </a:rPr>
              <a:t>Photo by Teemu Paananen on Unsplash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Solution Architecture Diagram</a:t>
            </a:r>
          </a:p>
        </p:txBody>
      </p:sp>
      <p:sp>
        <p:nvSpPr>
          <p:cNvPr id="4" name="Subtitle 3"/>
          <p:cNvSpPr>
            <a:spLocks noGrp="1"/>
          </p:cNvSpPr>
          <p:nvPr>
            <p:ph type="subTitle" idx="13"/>
          </p:nvPr>
        </p:nvSpPr>
        <p:spPr/>
        <p:txBody>
          <a:bodyPr>
            <a:normAutofit/>
          </a:bodyPr>
          <a:lstStyle/>
          <a:p>
            <a:r>
              <a:t>Conceptual Overview of the Autosys Monitoring Tool</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4136231"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508670"/>
            <a:ext cx="4136231" cy="3099643"/>
          </a:xfrm>
          <a:prstGeom prst="rect">
            <a:avLst/>
          </a:prstGeom>
          <a:noFill/>
          <a:ln>
            <a:noFill/>
          </a:ln>
        </p:spPr>
        <p:txBody>
          <a:bodyPr wrap="square" bIns="190500" lIns="165100" rIns="0" tIns="0" anchor="t">
            <a:spAutoFit/>
          </a:bodyPr>
          <a:lstStyle/>
          <a:p>
            <a:pPr algn="l" marL="228600" indent="-91440">
              <a:spcBef>
                <a:spcPts val="0"/>
              </a:spcBef>
              <a:spcAft>
                <a:spcPts val="0"/>
              </a:spcAft>
              <a:buSzPct val="116666"/>
              <a:buFont typeface="Arial"/>
              <a:buChar char="•"/>
            </a:pPr>
            <a:r>
              <a:rPr b="1" i="0" sz="1500">
                <a:solidFill>
                  <a:srgbClr val="1F2728"/>
                </a:solidFill>
                <a:latin typeface="Roboto"/>
              </a:rPr>
              <a:t>Autosys Scheduler:</a:t>
            </a:r>
            <a:r>
              <a:rPr b="0" i="0" sz="1500">
                <a:solidFill>
                  <a:srgbClr val="1F2728"/>
                </a:solidFill>
                <a:latin typeface="Roboto"/>
              </a:rPr>
              <a:t> Acts as the source of job execution data, including status, start and end times, and dependency relationships.</a:t>
            </a:r>
          </a:p>
          <a:p>
            <a:pPr lvl="1" algn="l" marL="228600" indent="-91440">
              <a:spcBef>
                <a:spcPts val="0"/>
              </a:spcBef>
              <a:spcAft>
                <a:spcPts val="0"/>
              </a:spcAft>
              <a:buSzPct val="116666"/>
              <a:buFont typeface="Arial"/>
              <a:buChar char="•"/>
            </a:pPr>
            <a:r>
              <a:rPr b="1" i="0" sz="1500">
                <a:solidFill>
                  <a:srgbClr val="1F2728"/>
                </a:solidFill>
                <a:latin typeface="Roboto"/>
              </a:rPr>
              <a:t>Monitoring Engine:</a:t>
            </a:r>
            <a:r>
              <a:rPr b="0" i="0" sz="1500">
                <a:solidFill>
                  <a:srgbClr val="1F2728"/>
                </a:solidFill>
                <a:latin typeface="Roboto"/>
              </a:rPr>
              <a:t> A periodic Autosys job queries metadata tables, validates run metrics, and detects anomalies in job performance.</a:t>
            </a:r>
          </a:p>
          <a:p>
            <a:pPr lvl="1" algn="l" marL="228600" indent="-91440">
              <a:spcBef>
                <a:spcPts val="0"/>
              </a:spcBef>
              <a:spcAft>
                <a:spcPts val="0"/>
              </a:spcAft>
              <a:buSzPct val="116666"/>
              <a:buFont typeface="Arial"/>
              <a:buChar char="•"/>
            </a:pPr>
            <a:r>
              <a:rPr b="1" i="0" sz="1500">
                <a:solidFill>
                  <a:srgbClr val="1F2728"/>
                </a:solidFill>
                <a:latin typeface="Roboto"/>
              </a:rPr>
              <a:t>Reporting and Alerting Layer:</a:t>
            </a:r>
            <a:r>
              <a:rPr b="0" i="0" sz="1500">
                <a:solidFill>
                  <a:srgbClr val="1F2728"/>
                </a:solidFill>
                <a:latin typeface="Roboto"/>
              </a:rPr>
              <a:t> Aggregates monitoring results into dashboards and sends proactive notifications through email or monitoring systems.</a:t>
            </a:r>
          </a:p>
        </p:txBody>
      </p:sp>
      <p:sp>
        <p:nvSpPr>
          <p:cNvPr id="12" name="Rectangle 11"/>
          <p:cNvSpPr/>
          <p:nvPr/>
        </p:nvSpPr>
        <p:spPr>
          <a:xfrm>
            <a:off x="4626619" y="1508670"/>
            <a:ext cx="413638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619" y="1508670"/>
            <a:ext cx="413638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6619" y="1508670"/>
            <a:ext cx="4136380" cy="2328564"/>
          </a:xfrm>
          <a:prstGeom prst="rect">
            <a:avLst/>
          </a:prstGeom>
          <a:noFill/>
          <a:ln>
            <a:noFill/>
          </a:ln>
        </p:spPr>
        <p:txBody>
          <a:bodyPr wrap="square" bIns="0" lIns="0" rIns="0" tIns="0" anchor="t">
            <a:spAutoFit/>
          </a:bodyPr>
          <a:lstStyle/>
          <a:p>
            <a:pPr algn="l"/>
          </a:p>
        </p:txBody>
      </p:sp>
      <p:pic>
        <p:nvPicPr>
          <p:cNvPr id="15" name="Picture 14" descr="tmpix_uc8pk.png"/>
          <p:cNvPicPr>
            <a:picLocks noChangeAspect="1"/>
          </p:cNvPicPr>
          <p:nvPr/>
        </p:nvPicPr>
        <p:blipFill>
          <a:blip r:embed="rId2"/>
          <a:stretch>
            <a:fillRect/>
          </a:stretch>
        </p:blipFill>
        <p:spPr>
          <a:xfrm>
            <a:off x="4626619" y="1508670"/>
            <a:ext cx="4136380" cy="2328564"/>
          </a:xfrm>
          <a:prstGeom prst="rect">
            <a:avLst/>
          </a:prstGeom>
        </p:spPr>
      </p:pic>
      <p:sp>
        <p:nvSpPr>
          <p:cNvPr id="16" name="Rectangle 15"/>
          <p:cNvSpPr/>
          <p:nvPr/>
        </p:nvSpPr>
        <p:spPr>
          <a:xfrm>
            <a:off x="4626619" y="3913435"/>
            <a:ext cx="4136380" cy="198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6619" y="3913435"/>
            <a:ext cx="4136380" cy="198685"/>
          </a:xfrm>
          <a:prstGeom prst="rect">
            <a:avLst/>
          </a:prstGeom>
          <a:noFill/>
          <a:ln>
            <a:noFill/>
          </a:ln>
        </p:spPr>
        <p:txBody>
          <a:bodyPr wrap="square" bIns="0" lIns="0" rIns="0" tIns="0" anchor="t">
            <a:spAutoFit/>
          </a:bodyPr>
          <a:lstStyle/>
          <a:p>
            <a:pPr algn="r"/>
            <a:r>
              <a:rPr b="0" i="0" sz="1000">
                <a:solidFill>
                  <a:srgbClr val="1F2728"/>
                </a:solidFill>
                <a:latin typeface="Roboto"/>
              </a:rPr>
              <a:t>Photo by Adrien WIESENBACH on Unsplash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Core Functionalities</a:t>
            </a:r>
          </a:p>
        </p:txBody>
      </p:sp>
      <p:sp>
        <p:nvSpPr>
          <p:cNvPr id="4" name="Subtitle 3"/>
          <p:cNvSpPr>
            <a:spLocks noGrp="1"/>
          </p:cNvSpPr>
          <p:nvPr>
            <p:ph type="subTitle" idx="13"/>
          </p:nvPr>
        </p:nvSpPr>
        <p:spPr/>
        <p:txBody>
          <a:bodyPr>
            <a:normAutofit/>
          </a:bodyPr>
          <a:lstStyle/>
          <a:p>
            <a:r>
              <a:t>Monitoring Logic, Analysis, and Reporting Features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217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2175" y="1508670"/>
            <a:ext cx="304800" cy="304800"/>
          </a:xfrm>
          <a:prstGeom prst="rect">
            <a:avLst/>
          </a:prstGeom>
          <a:noFill/>
          <a:ln>
            <a:noFill/>
          </a:ln>
        </p:spPr>
        <p:txBody>
          <a:bodyPr wrap="square" bIns="0" lIns="0" rIns="0" tIns="0" anchor="t">
            <a:spAutoFit/>
          </a:bodyPr>
          <a:lstStyle/>
          <a:p>
            <a:pPr algn="ctr"/>
          </a:p>
        </p:txBody>
      </p:sp>
      <p:pic>
        <p:nvPicPr>
          <p:cNvPr id="16" name="Picture 15" descr="tmp74u4utqy.png"/>
          <p:cNvPicPr>
            <a:picLocks noChangeAspect="1"/>
          </p:cNvPicPr>
          <p:nvPr/>
        </p:nvPicPr>
        <p:blipFill>
          <a:blip r:embed="rId2"/>
          <a:stretch>
            <a:fillRect/>
          </a:stretch>
        </p:blipFill>
        <p:spPr>
          <a:xfrm>
            <a:off x="2162175" y="1508670"/>
            <a:ext cx="304800" cy="304800"/>
          </a:xfrm>
          <a:prstGeom prst="rect">
            <a:avLst/>
          </a:prstGeom>
        </p:spPr>
      </p:pic>
      <p:sp>
        <p:nvSpPr>
          <p:cNvPr id="17" name="TextBox 16"/>
          <p:cNvSpPr txBox="1"/>
          <p:nvPr/>
        </p:nvSpPr>
        <p:spPr>
          <a:xfrm>
            <a:off x="228600" y="1927770"/>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Start Time Monitoring</a:t>
            </a:r>
          </a:p>
          <a:p>
            <a:pPr algn="ctr">
              <a:spcAft>
                <a:spcPts val="1200"/>
              </a:spcAft>
            </a:pPr>
            <a:r>
              <a:rPr b="0" i="0" sz="1400">
                <a:solidFill>
                  <a:srgbClr val="1F2728"/>
                </a:solidFill>
                <a:latin typeface="Roboto"/>
              </a:rPr>
              <a:t>Tracks job initiation times and compares them against historical baselines to detect delays in execution cycles.</a:t>
            </a:r>
          </a:p>
        </p:txBody>
      </p:sp>
      <p:sp>
        <p:nvSpPr>
          <p:cNvPr id="18" name="Rectangle 17"/>
          <p:cNvSpPr/>
          <p:nvPr/>
        </p:nvSpPr>
        <p:spPr>
          <a:xfrm>
            <a:off x="459105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9105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91050" y="1508670"/>
            <a:ext cx="4171950" cy="168369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2462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4625" y="1508670"/>
            <a:ext cx="304800" cy="304800"/>
          </a:xfrm>
          <a:prstGeom prst="rect">
            <a:avLst/>
          </a:prstGeom>
          <a:noFill/>
          <a:ln>
            <a:noFill/>
          </a:ln>
        </p:spPr>
        <p:txBody>
          <a:bodyPr wrap="square" bIns="0" lIns="0" rIns="0" tIns="0" anchor="t">
            <a:spAutoFit/>
          </a:bodyPr>
          <a:lstStyle/>
          <a:p>
            <a:pPr algn="ctr"/>
          </a:p>
        </p:txBody>
      </p:sp>
      <p:pic>
        <p:nvPicPr>
          <p:cNvPr id="23" name="Picture 22" descr="tmpum_yjpp1.png"/>
          <p:cNvPicPr>
            <a:picLocks noChangeAspect="1"/>
          </p:cNvPicPr>
          <p:nvPr/>
        </p:nvPicPr>
        <p:blipFill>
          <a:blip r:embed="rId3"/>
          <a:stretch>
            <a:fillRect/>
          </a:stretch>
        </p:blipFill>
        <p:spPr>
          <a:xfrm>
            <a:off x="6524625" y="1508670"/>
            <a:ext cx="304800" cy="304800"/>
          </a:xfrm>
          <a:prstGeom prst="rect">
            <a:avLst/>
          </a:prstGeom>
        </p:spPr>
      </p:pic>
      <p:sp>
        <p:nvSpPr>
          <p:cNvPr id="24" name="TextBox 23"/>
          <p:cNvSpPr txBox="1"/>
          <p:nvPr/>
        </p:nvSpPr>
        <p:spPr>
          <a:xfrm>
            <a:off x="4591050" y="1927770"/>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Run Duration Monitoring</a:t>
            </a:r>
          </a:p>
          <a:p>
            <a:pPr algn="ctr">
              <a:spcAft>
                <a:spcPts val="1200"/>
              </a:spcAft>
            </a:pPr>
            <a:r>
              <a:rPr b="0" i="0" sz="1400">
                <a:solidFill>
                  <a:srgbClr val="1F2728"/>
                </a:solidFill>
                <a:latin typeface="Roboto"/>
              </a:rPr>
              <a:t>Evaluates job runtime against thresholds to identify performance anomalies and resource bottlenecks.</a:t>
            </a:r>
          </a:p>
        </p:txBody>
      </p:sp>
      <p:sp>
        <p:nvSpPr>
          <p:cNvPr id="25" name="Rectangle 24"/>
          <p:cNvSpPr/>
          <p:nvPr/>
        </p:nvSpPr>
        <p:spPr>
          <a:xfrm>
            <a:off x="22860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860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860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62175" y="338286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62175" y="3382863"/>
            <a:ext cx="304800" cy="304800"/>
          </a:xfrm>
          <a:prstGeom prst="rect">
            <a:avLst/>
          </a:prstGeom>
          <a:noFill/>
          <a:ln>
            <a:noFill/>
          </a:ln>
        </p:spPr>
        <p:txBody>
          <a:bodyPr wrap="square" bIns="0" lIns="0" rIns="0" tIns="0" anchor="t">
            <a:spAutoFit/>
          </a:bodyPr>
          <a:lstStyle/>
          <a:p>
            <a:pPr algn="ctr"/>
          </a:p>
        </p:txBody>
      </p:sp>
      <p:pic>
        <p:nvPicPr>
          <p:cNvPr id="30" name="Picture 29" descr="tmpd5sgifmz.png"/>
          <p:cNvPicPr>
            <a:picLocks noChangeAspect="1"/>
          </p:cNvPicPr>
          <p:nvPr/>
        </p:nvPicPr>
        <p:blipFill>
          <a:blip r:embed="rId4"/>
          <a:stretch>
            <a:fillRect/>
          </a:stretch>
        </p:blipFill>
        <p:spPr>
          <a:xfrm>
            <a:off x="2162175" y="3382863"/>
            <a:ext cx="304800" cy="304800"/>
          </a:xfrm>
          <a:prstGeom prst="rect">
            <a:avLst/>
          </a:prstGeom>
        </p:spPr>
      </p:pic>
      <p:sp>
        <p:nvSpPr>
          <p:cNvPr id="31" name="TextBox 30"/>
          <p:cNvSpPr txBox="1"/>
          <p:nvPr/>
        </p:nvSpPr>
        <p:spPr>
          <a:xfrm>
            <a:off x="228600" y="3801963"/>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Failure and Dependency Tracking</a:t>
            </a:r>
          </a:p>
          <a:p>
            <a:pPr algn="ctr">
              <a:spcAft>
                <a:spcPts val="1200"/>
              </a:spcAft>
            </a:pPr>
            <a:r>
              <a:rPr b="0" i="0" sz="1400">
                <a:solidFill>
                  <a:srgbClr val="1F2728"/>
                </a:solidFill>
                <a:latin typeface="Roboto"/>
              </a:rPr>
              <a:t>Detects failed jobs and maps their downstream dependencies to anticipate potential impact areas.</a:t>
            </a:r>
          </a:p>
        </p:txBody>
      </p:sp>
      <p:sp>
        <p:nvSpPr>
          <p:cNvPr id="32" name="Rectangle 31"/>
          <p:cNvSpPr/>
          <p:nvPr/>
        </p:nvSpPr>
        <p:spPr>
          <a:xfrm>
            <a:off x="459105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9105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91050" y="3382863"/>
            <a:ext cx="4171950" cy="1470273"/>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24625" y="338286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24625" y="3382863"/>
            <a:ext cx="304800" cy="304800"/>
          </a:xfrm>
          <a:prstGeom prst="rect">
            <a:avLst/>
          </a:prstGeom>
          <a:noFill/>
          <a:ln>
            <a:noFill/>
          </a:ln>
        </p:spPr>
        <p:txBody>
          <a:bodyPr wrap="square" bIns="0" lIns="0" rIns="0" tIns="0" anchor="t">
            <a:spAutoFit/>
          </a:bodyPr>
          <a:lstStyle/>
          <a:p>
            <a:pPr algn="ctr"/>
          </a:p>
        </p:txBody>
      </p:sp>
      <p:pic>
        <p:nvPicPr>
          <p:cNvPr id="37" name="Picture 36" descr="tmpef05igk1.png"/>
          <p:cNvPicPr>
            <a:picLocks noChangeAspect="1"/>
          </p:cNvPicPr>
          <p:nvPr/>
        </p:nvPicPr>
        <p:blipFill>
          <a:blip r:embed="rId5"/>
          <a:stretch>
            <a:fillRect/>
          </a:stretch>
        </p:blipFill>
        <p:spPr>
          <a:xfrm>
            <a:off x="6524625" y="3382863"/>
            <a:ext cx="304800" cy="304800"/>
          </a:xfrm>
          <a:prstGeom prst="rect">
            <a:avLst/>
          </a:prstGeom>
        </p:spPr>
      </p:pic>
      <p:sp>
        <p:nvSpPr>
          <p:cNvPr id="38" name="TextBox 37"/>
          <p:cNvSpPr txBox="1"/>
          <p:nvPr/>
        </p:nvSpPr>
        <p:spPr>
          <a:xfrm>
            <a:off x="4591050" y="3801963"/>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Consolidated Reporting</a:t>
            </a:r>
          </a:p>
          <a:p>
            <a:pPr algn="ctr">
              <a:spcAft>
                <a:spcPts val="1200"/>
              </a:spcAft>
            </a:pPr>
            <a:r>
              <a:rPr b="0" i="0" sz="1400">
                <a:solidFill>
                  <a:srgbClr val="1F2728"/>
                </a:solidFill>
                <a:latin typeface="Roboto"/>
              </a:rPr>
              <a:t>Provides unified reports summarizing job health, trends, and SLA compliance across environments.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Benefits and ROI</a:t>
            </a:r>
          </a:p>
        </p:txBody>
      </p:sp>
      <p:sp>
        <p:nvSpPr>
          <p:cNvPr id="4" name="Subtitle 3"/>
          <p:cNvSpPr>
            <a:spLocks noGrp="1"/>
          </p:cNvSpPr>
          <p:nvPr>
            <p:ph type="subTitle" idx="13"/>
          </p:nvPr>
        </p:nvSpPr>
        <p:spPr/>
        <p:txBody>
          <a:bodyPr>
            <a:normAutofit/>
          </a:bodyPr>
          <a:lstStyle/>
          <a:p>
            <a:r>
              <a:t>Operational and Strategic Advantages of the Monitoring Tool</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217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2175" y="1508670"/>
            <a:ext cx="304800" cy="304800"/>
          </a:xfrm>
          <a:prstGeom prst="rect">
            <a:avLst/>
          </a:prstGeom>
          <a:noFill/>
          <a:ln>
            <a:noFill/>
          </a:ln>
        </p:spPr>
        <p:txBody>
          <a:bodyPr wrap="square" bIns="0" lIns="0" rIns="0" tIns="0" anchor="t">
            <a:spAutoFit/>
          </a:bodyPr>
          <a:lstStyle/>
          <a:p>
            <a:pPr algn="ctr"/>
          </a:p>
        </p:txBody>
      </p:sp>
      <p:pic>
        <p:nvPicPr>
          <p:cNvPr id="16" name="Picture 15" descr="tmprr_kqzyr.png"/>
          <p:cNvPicPr>
            <a:picLocks noChangeAspect="1"/>
          </p:cNvPicPr>
          <p:nvPr/>
        </p:nvPicPr>
        <p:blipFill>
          <a:blip r:embed="rId2"/>
          <a:stretch>
            <a:fillRect/>
          </a:stretch>
        </p:blipFill>
        <p:spPr>
          <a:xfrm>
            <a:off x="2162175" y="1508670"/>
            <a:ext cx="304800" cy="304800"/>
          </a:xfrm>
          <a:prstGeom prst="rect">
            <a:avLst/>
          </a:prstGeom>
        </p:spPr>
      </p:pic>
      <p:sp>
        <p:nvSpPr>
          <p:cNvPr id="17" name="TextBox 16"/>
          <p:cNvSpPr txBox="1"/>
          <p:nvPr/>
        </p:nvSpPr>
        <p:spPr>
          <a:xfrm>
            <a:off x="228600" y="1927770"/>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Enhanced Reliability</a:t>
            </a:r>
          </a:p>
          <a:p>
            <a:pPr algn="ctr">
              <a:spcAft>
                <a:spcPts val="1200"/>
              </a:spcAft>
            </a:pPr>
            <a:r>
              <a:rPr b="0" i="0" sz="1400">
                <a:solidFill>
                  <a:srgbClr val="1F2728"/>
                </a:solidFill>
                <a:latin typeface="Roboto"/>
              </a:rPr>
              <a:t>Continuous automated monitoring reduces unplanned downtime and ensures timely completion of critical batch jobs.</a:t>
            </a:r>
          </a:p>
        </p:txBody>
      </p:sp>
      <p:sp>
        <p:nvSpPr>
          <p:cNvPr id="18" name="Rectangle 17"/>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2462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4625" y="1508670"/>
            <a:ext cx="304800" cy="304800"/>
          </a:xfrm>
          <a:prstGeom prst="rect">
            <a:avLst/>
          </a:prstGeom>
          <a:noFill/>
          <a:ln>
            <a:noFill/>
          </a:ln>
        </p:spPr>
        <p:txBody>
          <a:bodyPr wrap="square" bIns="0" lIns="0" rIns="0" tIns="0" anchor="t">
            <a:spAutoFit/>
          </a:bodyPr>
          <a:lstStyle/>
          <a:p>
            <a:pPr algn="ctr"/>
          </a:p>
        </p:txBody>
      </p:sp>
      <p:pic>
        <p:nvPicPr>
          <p:cNvPr id="23" name="Picture 22" descr="tmphj4_f4u3.png"/>
          <p:cNvPicPr>
            <a:picLocks noChangeAspect="1"/>
          </p:cNvPicPr>
          <p:nvPr/>
        </p:nvPicPr>
        <p:blipFill>
          <a:blip r:embed="rId3"/>
          <a:stretch>
            <a:fillRect/>
          </a:stretch>
        </p:blipFill>
        <p:spPr>
          <a:xfrm>
            <a:off x="6524625" y="1508670"/>
            <a:ext cx="304800" cy="304800"/>
          </a:xfrm>
          <a:prstGeom prst="rect">
            <a:avLst/>
          </a:prstGeom>
        </p:spPr>
      </p:pic>
      <p:sp>
        <p:nvSpPr>
          <p:cNvPr id="24" name="TextBox 23"/>
          <p:cNvSpPr txBox="1"/>
          <p:nvPr/>
        </p:nvSpPr>
        <p:spPr>
          <a:xfrm>
            <a:off x="4591050" y="1927770"/>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Operational Efficiency</a:t>
            </a:r>
          </a:p>
          <a:p>
            <a:pPr algn="ctr">
              <a:spcAft>
                <a:spcPts val="1200"/>
              </a:spcAft>
            </a:pPr>
            <a:r>
              <a:rPr b="0" i="0" sz="1400">
                <a:solidFill>
                  <a:srgbClr val="1F2728"/>
                </a:solidFill>
                <a:latin typeface="Roboto"/>
              </a:rPr>
              <a:t>Eliminates manual job tracking, allowing teams to focus on analysis and optimization rather than reactive firefighting.</a:t>
            </a:r>
          </a:p>
        </p:txBody>
      </p:sp>
      <p:sp>
        <p:nvSpPr>
          <p:cNvPr id="25" name="Rectangle 24"/>
          <p:cNvSpPr/>
          <p:nvPr/>
        </p:nvSpPr>
        <p:spPr>
          <a:xfrm>
            <a:off x="22860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6217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62175" y="3276153"/>
            <a:ext cx="304800" cy="304800"/>
          </a:xfrm>
          <a:prstGeom prst="rect">
            <a:avLst/>
          </a:prstGeom>
          <a:noFill/>
          <a:ln>
            <a:noFill/>
          </a:ln>
        </p:spPr>
        <p:txBody>
          <a:bodyPr wrap="square" bIns="0" lIns="0" rIns="0" tIns="0" anchor="t">
            <a:spAutoFit/>
          </a:bodyPr>
          <a:lstStyle/>
          <a:p>
            <a:pPr algn="ctr"/>
          </a:p>
        </p:txBody>
      </p:sp>
      <p:pic>
        <p:nvPicPr>
          <p:cNvPr id="30" name="Picture 29" descr="tmpbp5aw3ek.png"/>
          <p:cNvPicPr>
            <a:picLocks noChangeAspect="1"/>
          </p:cNvPicPr>
          <p:nvPr/>
        </p:nvPicPr>
        <p:blipFill>
          <a:blip r:embed="rId4"/>
          <a:stretch>
            <a:fillRect/>
          </a:stretch>
        </p:blipFill>
        <p:spPr>
          <a:xfrm>
            <a:off x="2162175" y="3276153"/>
            <a:ext cx="304800" cy="304800"/>
          </a:xfrm>
          <a:prstGeom prst="rect">
            <a:avLst/>
          </a:prstGeom>
        </p:spPr>
      </p:pic>
      <p:sp>
        <p:nvSpPr>
          <p:cNvPr id="31" name="TextBox 30"/>
          <p:cNvSpPr txBox="1"/>
          <p:nvPr/>
        </p:nvSpPr>
        <p:spPr>
          <a:xfrm>
            <a:off x="228600" y="3695253"/>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Faster Issue Resolution</a:t>
            </a:r>
          </a:p>
          <a:p>
            <a:pPr algn="ctr">
              <a:spcAft>
                <a:spcPts val="1200"/>
              </a:spcAft>
            </a:pPr>
            <a:r>
              <a:rPr b="0" i="0" sz="1400">
                <a:solidFill>
                  <a:srgbClr val="1F2728"/>
                </a:solidFill>
                <a:latin typeface="Roboto"/>
              </a:rPr>
              <a:t>Proactive alerting enables earlier detection of anomalies, minimizing service disruption and recovery times.</a:t>
            </a:r>
          </a:p>
        </p:txBody>
      </p:sp>
      <p:sp>
        <p:nvSpPr>
          <p:cNvPr id="32" name="Rectangle 31"/>
          <p:cNvSpPr/>
          <p:nvPr/>
        </p:nvSpPr>
        <p:spPr>
          <a:xfrm>
            <a:off x="459105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2462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24625" y="3276153"/>
            <a:ext cx="304800" cy="304800"/>
          </a:xfrm>
          <a:prstGeom prst="rect">
            <a:avLst/>
          </a:prstGeom>
          <a:noFill/>
          <a:ln>
            <a:noFill/>
          </a:ln>
        </p:spPr>
        <p:txBody>
          <a:bodyPr wrap="square" bIns="0" lIns="0" rIns="0" tIns="0" anchor="t">
            <a:spAutoFit/>
          </a:bodyPr>
          <a:lstStyle/>
          <a:p>
            <a:pPr algn="ctr"/>
          </a:p>
        </p:txBody>
      </p:sp>
      <p:pic>
        <p:nvPicPr>
          <p:cNvPr id="37" name="Picture 36" descr="tmpsd9ljtur.png"/>
          <p:cNvPicPr>
            <a:picLocks noChangeAspect="1"/>
          </p:cNvPicPr>
          <p:nvPr/>
        </p:nvPicPr>
        <p:blipFill>
          <a:blip r:embed="rId5"/>
          <a:stretch>
            <a:fillRect/>
          </a:stretch>
        </p:blipFill>
        <p:spPr>
          <a:xfrm>
            <a:off x="6524625" y="3276153"/>
            <a:ext cx="304800" cy="304800"/>
          </a:xfrm>
          <a:prstGeom prst="rect">
            <a:avLst/>
          </a:prstGeom>
        </p:spPr>
      </p:pic>
      <p:sp>
        <p:nvSpPr>
          <p:cNvPr id="38" name="TextBox 37"/>
          <p:cNvSpPr txBox="1"/>
          <p:nvPr/>
        </p:nvSpPr>
        <p:spPr>
          <a:xfrm>
            <a:off x="4591050" y="3695253"/>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Strategic Visibility</a:t>
            </a:r>
          </a:p>
          <a:p>
            <a:pPr algn="ctr">
              <a:spcAft>
                <a:spcPts val="1200"/>
              </a:spcAft>
            </a:pPr>
            <a:r>
              <a:rPr b="0" i="0" sz="1400">
                <a:solidFill>
                  <a:srgbClr val="1F2728"/>
                </a:solidFill>
                <a:latin typeface="Roboto"/>
              </a:rPr>
              <a:t>Unified reporting provides leadership with data-driven insights for capacity planning and SLA management.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Implementation Roadmap</a:t>
            </a:r>
          </a:p>
        </p:txBody>
      </p:sp>
      <p:sp>
        <p:nvSpPr>
          <p:cNvPr id="4" name="Subtitle 3"/>
          <p:cNvSpPr>
            <a:spLocks noGrp="1"/>
          </p:cNvSpPr>
          <p:nvPr>
            <p:ph type="subTitle" idx="13"/>
          </p:nvPr>
        </p:nvSpPr>
        <p:spPr/>
        <p:txBody>
          <a:bodyPr>
            <a:normAutofit/>
          </a:bodyPr>
          <a:lstStyle/>
          <a:p>
            <a:r>
              <a:t>Phased Approach to Deployment</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217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2175" y="1508670"/>
            <a:ext cx="304800" cy="304800"/>
          </a:xfrm>
          <a:prstGeom prst="rect">
            <a:avLst/>
          </a:prstGeom>
          <a:noFill/>
          <a:ln>
            <a:noFill/>
          </a:ln>
        </p:spPr>
        <p:txBody>
          <a:bodyPr wrap="square" bIns="0" lIns="0" rIns="0" tIns="0" anchor="t">
            <a:spAutoFit/>
          </a:bodyPr>
          <a:lstStyle/>
          <a:p>
            <a:pPr algn="ctr"/>
          </a:p>
        </p:txBody>
      </p:sp>
      <p:pic>
        <p:nvPicPr>
          <p:cNvPr id="16" name="Picture 15" descr="tmp2mqq31v7.png"/>
          <p:cNvPicPr>
            <a:picLocks noChangeAspect="1"/>
          </p:cNvPicPr>
          <p:nvPr/>
        </p:nvPicPr>
        <p:blipFill>
          <a:blip r:embed="rId2"/>
          <a:stretch>
            <a:fillRect/>
          </a:stretch>
        </p:blipFill>
        <p:spPr>
          <a:xfrm>
            <a:off x="2162175" y="1508670"/>
            <a:ext cx="304800" cy="304800"/>
          </a:xfrm>
          <a:prstGeom prst="rect">
            <a:avLst/>
          </a:prstGeom>
        </p:spPr>
      </p:pic>
      <p:sp>
        <p:nvSpPr>
          <p:cNvPr id="17" name="TextBox 16"/>
          <p:cNvSpPr txBox="1"/>
          <p:nvPr/>
        </p:nvSpPr>
        <p:spPr>
          <a:xfrm>
            <a:off x="228600" y="1927770"/>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Phase 1 – Design &amp; Planning</a:t>
            </a:r>
          </a:p>
          <a:p>
            <a:pPr algn="ctr">
              <a:spcAft>
                <a:spcPts val="1200"/>
              </a:spcAft>
            </a:pPr>
            <a:r>
              <a:rPr b="0" i="0" sz="1400">
                <a:solidFill>
                  <a:srgbClr val="1F2728"/>
                </a:solidFill>
                <a:latin typeface="Roboto"/>
              </a:rPr>
              <a:t>Define scope, identify Autosys job categories, and finalize metadata schema for monitoring integration.</a:t>
            </a:r>
          </a:p>
        </p:txBody>
      </p:sp>
      <p:sp>
        <p:nvSpPr>
          <p:cNvPr id="18" name="Rectangle 17"/>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2462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4625" y="1508670"/>
            <a:ext cx="304800" cy="304800"/>
          </a:xfrm>
          <a:prstGeom prst="rect">
            <a:avLst/>
          </a:prstGeom>
          <a:noFill/>
          <a:ln>
            <a:noFill/>
          </a:ln>
        </p:spPr>
        <p:txBody>
          <a:bodyPr wrap="square" bIns="0" lIns="0" rIns="0" tIns="0" anchor="t">
            <a:spAutoFit/>
          </a:bodyPr>
          <a:lstStyle/>
          <a:p>
            <a:pPr algn="ctr"/>
          </a:p>
        </p:txBody>
      </p:sp>
      <p:pic>
        <p:nvPicPr>
          <p:cNvPr id="23" name="Picture 22" descr="tmpn6ke8_nr.png"/>
          <p:cNvPicPr>
            <a:picLocks noChangeAspect="1"/>
          </p:cNvPicPr>
          <p:nvPr/>
        </p:nvPicPr>
        <p:blipFill>
          <a:blip r:embed="rId3"/>
          <a:stretch>
            <a:fillRect/>
          </a:stretch>
        </p:blipFill>
        <p:spPr>
          <a:xfrm>
            <a:off x="6524625" y="1508670"/>
            <a:ext cx="304800" cy="304800"/>
          </a:xfrm>
          <a:prstGeom prst="rect">
            <a:avLst/>
          </a:prstGeom>
        </p:spPr>
      </p:pic>
      <p:sp>
        <p:nvSpPr>
          <p:cNvPr id="24" name="TextBox 23"/>
          <p:cNvSpPr txBox="1"/>
          <p:nvPr/>
        </p:nvSpPr>
        <p:spPr>
          <a:xfrm>
            <a:off x="4591050" y="1927770"/>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Phase 2 – Development</a:t>
            </a:r>
          </a:p>
          <a:p>
            <a:pPr algn="ctr">
              <a:spcAft>
                <a:spcPts val="1200"/>
              </a:spcAft>
            </a:pPr>
            <a:r>
              <a:rPr b="0" i="0" sz="1400">
                <a:solidFill>
                  <a:srgbClr val="1F2728"/>
                </a:solidFill>
                <a:latin typeface="Roboto"/>
              </a:rPr>
              <a:t>Implement the monitoring job, validation logic, and initial alerting mechanisms using Autosys and database scripts.</a:t>
            </a:r>
          </a:p>
        </p:txBody>
      </p:sp>
      <p:sp>
        <p:nvSpPr>
          <p:cNvPr id="25" name="Rectangle 24"/>
          <p:cNvSpPr/>
          <p:nvPr/>
        </p:nvSpPr>
        <p:spPr>
          <a:xfrm>
            <a:off x="22860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6217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62175" y="3276153"/>
            <a:ext cx="304800" cy="304800"/>
          </a:xfrm>
          <a:prstGeom prst="rect">
            <a:avLst/>
          </a:prstGeom>
          <a:noFill/>
          <a:ln>
            <a:noFill/>
          </a:ln>
        </p:spPr>
        <p:txBody>
          <a:bodyPr wrap="square" bIns="0" lIns="0" rIns="0" tIns="0" anchor="t">
            <a:spAutoFit/>
          </a:bodyPr>
          <a:lstStyle/>
          <a:p>
            <a:pPr algn="ctr"/>
          </a:p>
        </p:txBody>
      </p:sp>
      <p:pic>
        <p:nvPicPr>
          <p:cNvPr id="30" name="Picture 29" descr="tmp689t6vyu.png"/>
          <p:cNvPicPr>
            <a:picLocks noChangeAspect="1"/>
          </p:cNvPicPr>
          <p:nvPr/>
        </p:nvPicPr>
        <p:blipFill>
          <a:blip r:embed="rId4"/>
          <a:stretch>
            <a:fillRect/>
          </a:stretch>
        </p:blipFill>
        <p:spPr>
          <a:xfrm>
            <a:off x="2162175" y="3276153"/>
            <a:ext cx="304800" cy="304800"/>
          </a:xfrm>
          <a:prstGeom prst="rect">
            <a:avLst/>
          </a:prstGeom>
        </p:spPr>
      </p:pic>
      <p:sp>
        <p:nvSpPr>
          <p:cNvPr id="31" name="TextBox 30"/>
          <p:cNvSpPr txBox="1"/>
          <p:nvPr/>
        </p:nvSpPr>
        <p:spPr>
          <a:xfrm>
            <a:off x="228600" y="3695253"/>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Phase 3 – Testing &amp; Optimization</a:t>
            </a:r>
          </a:p>
          <a:p>
            <a:pPr algn="ctr">
              <a:spcAft>
                <a:spcPts val="1200"/>
              </a:spcAft>
            </a:pPr>
            <a:r>
              <a:rPr b="0" i="0" sz="1400">
                <a:solidFill>
                  <a:srgbClr val="1F2728"/>
                </a:solidFill>
                <a:latin typeface="Roboto"/>
              </a:rPr>
              <a:t>Conduct performance testing, validate accuracy of alerts, and tune thresholds for optimal detection sensitivity.</a:t>
            </a:r>
          </a:p>
        </p:txBody>
      </p:sp>
      <p:sp>
        <p:nvSpPr>
          <p:cNvPr id="32" name="Rectangle 31"/>
          <p:cNvSpPr/>
          <p:nvPr/>
        </p:nvSpPr>
        <p:spPr>
          <a:xfrm>
            <a:off x="459105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2462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24625" y="3276153"/>
            <a:ext cx="304800" cy="304800"/>
          </a:xfrm>
          <a:prstGeom prst="rect">
            <a:avLst/>
          </a:prstGeom>
          <a:noFill/>
          <a:ln>
            <a:noFill/>
          </a:ln>
        </p:spPr>
        <p:txBody>
          <a:bodyPr wrap="square" bIns="0" lIns="0" rIns="0" tIns="0" anchor="t">
            <a:spAutoFit/>
          </a:bodyPr>
          <a:lstStyle/>
          <a:p>
            <a:pPr algn="ctr"/>
          </a:p>
        </p:txBody>
      </p:sp>
      <p:pic>
        <p:nvPicPr>
          <p:cNvPr id="37" name="Picture 36" descr="tmpxgbusrsk.png"/>
          <p:cNvPicPr>
            <a:picLocks noChangeAspect="1"/>
          </p:cNvPicPr>
          <p:nvPr/>
        </p:nvPicPr>
        <p:blipFill>
          <a:blip r:embed="rId5"/>
          <a:stretch>
            <a:fillRect/>
          </a:stretch>
        </p:blipFill>
        <p:spPr>
          <a:xfrm>
            <a:off x="6524625" y="3276153"/>
            <a:ext cx="304800" cy="304800"/>
          </a:xfrm>
          <a:prstGeom prst="rect">
            <a:avLst/>
          </a:prstGeom>
        </p:spPr>
      </p:pic>
      <p:sp>
        <p:nvSpPr>
          <p:cNvPr id="38" name="TextBox 37"/>
          <p:cNvSpPr txBox="1"/>
          <p:nvPr/>
        </p:nvSpPr>
        <p:spPr>
          <a:xfrm>
            <a:off x="4591050" y="3695253"/>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Phase 4 – Rollout &amp; Training</a:t>
            </a:r>
          </a:p>
          <a:p>
            <a:pPr algn="ctr">
              <a:spcAft>
                <a:spcPts val="1200"/>
              </a:spcAft>
            </a:pPr>
            <a:r>
              <a:rPr b="0" i="0" sz="1400">
                <a:solidFill>
                  <a:srgbClr val="1F2728"/>
                </a:solidFill>
                <a:latin typeface="Roboto"/>
              </a:rPr>
              <a:t>Deploy to production, onboard support teams, and provide training on dashboard usage and incident response.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Future Enhancements</a:t>
            </a:r>
          </a:p>
        </p:txBody>
      </p:sp>
      <p:sp>
        <p:nvSpPr>
          <p:cNvPr id="4" name="Subtitle 3"/>
          <p:cNvSpPr>
            <a:spLocks noGrp="1"/>
          </p:cNvSpPr>
          <p:nvPr>
            <p:ph type="subTitle" idx="13"/>
          </p:nvPr>
        </p:nvSpPr>
        <p:spPr/>
        <p:txBody>
          <a:bodyPr>
            <a:normAutofit/>
          </a:bodyPr>
          <a:lstStyle/>
          <a:p>
            <a:r>
              <a:t>AI-Driven Monitoring and Predictive Capabilities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6217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2175" y="1508670"/>
            <a:ext cx="304800" cy="304800"/>
          </a:xfrm>
          <a:prstGeom prst="rect">
            <a:avLst/>
          </a:prstGeom>
          <a:noFill/>
          <a:ln>
            <a:noFill/>
          </a:ln>
        </p:spPr>
        <p:txBody>
          <a:bodyPr wrap="square" bIns="0" lIns="0" rIns="0" tIns="0" anchor="t">
            <a:spAutoFit/>
          </a:bodyPr>
          <a:lstStyle/>
          <a:p>
            <a:pPr algn="ctr"/>
          </a:p>
        </p:txBody>
      </p:sp>
      <p:pic>
        <p:nvPicPr>
          <p:cNvPr id="16" name="Picture 15" descr="tmpla6ft8l1.png"/>
          <p:cNvPicPr>
            <a:picLocks noChangeAspect="1"/>
          </p:cNvPicPr>
          <p:nvPr/>
        </p:nvPicPr>
        <p:blipFill>
          <a:blip r:embed="rId2"/>
          <a:stretch>
            <a:fillRect/>
          </a:stretch>
        </p:blipFill>
        <p:spPr>
          <a:xfrm>
            <a:off x="2162175" y="1508670"/>
            <a:ext cx="304800" cy="304800"/>
          </a:xfrm>
          <a:prstGeom prst="rect">
            <a:avLst/>
          </a:prstGeom>
        </p:spPr>
      </p:pic>
      <p:sp>
        <p:nvSpPr>
          <p:cNvPr id="17" name="TextBox 16"/>
          <p:cNvSpPr txBox="1"/>
          <p:nvPr/>
        </p:nvSpPr>
        <p:spPr>
          <a:xfrm>
            <a:off x="228600" y="1927770"/>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Predictive Analytics</a:t>
            </a:r>
          </a:p>
          <a:p>
            <a:pPr algn="ctr">
              <a:spcAft>
                <a:spcPts val="1200"/>
              </a:spcAft>
            </a:pPr>
            <a:r>
              <a:rPr b="0" i="0" sz="1400">
                <a:solidFill>
                  <a:srgbClr val="1F2728"/>
                </a:solidFill>
                <a:latin typeface="Roboto"/>
              </a:rPr>
              <a:t>Leverage AI to forecast potential job delays or failures based on historical trends and workload patterns.</a:t>
            </a:r>
          </a:p>
        </p:txBody>
      </p:sp>
      <p:sp>
        <p:nvSpPr>
          <p:cNvPr id="18" name="Rectangle 17"/>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91050" y="1508670"/>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24625"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4625" y="1508670"/>
            <a:ext cx="304800" cy="304800"/>
          </a:xfrm>
          <a:prstGeom prst="rect">
            <a:avLst/>
          </a:prstGeom>
          <a:noFill/>
          <a:ln>
            <a:noFill/>
          </a:ln>
        </p:spPr>
        <p:txBody>
          <a:bodyPr wrap="square" bIns="0" lIns="0" rIns="0" tIns="0" anchor="t">
            <a:spAutoFit/>
          </a:bodyPr>
          <a:lstStyle/>
          <a:p>
            <a:pPr algn="ctr"/>
          </a:p>
        </p:txBody>
      </p:sp>
      <p:pic>
        <p:nvPicPr>
          <p:cNvPr id="23" name="Picture 22" descr="tmpl011geb_.png"/>
          <p:cNvPicPr>
            <a:picLocks noChangeAspect="1"/>
          </p:cNvPicPr>
          <p:nvPr/>
        </p:nvPicPr>
        <p:blipFill>
          <a:blip r:embed="rId3"/>
          <a:stretch>
            <a:fillRect/>
          </a:stretch>
        </p:blipFill>
        <p:spPr>
          <a:xfrm>
            <a:off x="6524625" y="1508670"/>
            <a:ext cx="304800" cy="304800"/>
          </a:xfrm>
          <a:prstGeom prst="rect">
            <a:avLst/>
          </a:prstGeom>
        </p:spPr>
      </p:pic>
      <p:sp>
        <p:nvSpPr>
          <p:cNvPr id="24" name="TextBox 23"/>
          <p:cNvSpPr txBox="1"/>
          <p:nvPr/>
        </p:nvSpPr>
        <p:spPr>
          <a:xfrm>
            <a:off x="4591050" y="1927770"/>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Anomaly Detection</a:t>
            </a:r>
          </a:p>
          <a:p>
            <a:pPr algn="ctr">
              <a:spcAft>
                <a:spcPts val="1200"/>
              </a:spcAft>
            </a:pPr>
            <a:r>
              <a:rPr b="0" i="0" sz="1400">
                <a:solidFill>
                  <a:srgbClr val="1F2728"/>
                </a:solidFill>
                <a:latin typeface="Roboto"/>
              </a:rPr>
              <a:t>Implement machine learning models to identify unusual runtime behaviors and automatically flag high-risk executions.</a:t>
            </a:r>
          </a:p>
        </p:txBody>
      </p:sp>
      <p:sp>
        <p:nvSpPr>
          <p:cNvPr id="25" name="Rectangle 24"/>
          <p:cNvSpPr/>
          <p:nvPr/>
        </p:nvSpPr>
        <p:spPr>
          <a:xfrm>
            <a:off x="22860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860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16217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62175" y="3276153"/>
            <a:ext cx="304800" cy="304800"/>
          </a:xfrm>
          <a:prstGeom prst="rect">
            <a:avLst/>
          </a:prstGeom>
          <a:noFill/>
          <a:ln>
            <a:noFill/>
          </a:ln>
        </p:spPr>
        <p:txBody>
          <a:bodyPr wrap="square" bIns="0" lIns="0" rIns="0" tIns="0" anchor="t">
            <a:spAutoFit/>
          </a:bodyPr>
          <a:lstStyle/>
          <a:p>
            <a:pPr algn="ctr"/>
          </a:p>
        </p:txBody>
      </p:sp>
      <p:pic>
        <p:nvPicPr>
          <p:cNvPr id="30" name="Picture 29" descr="tmpe2gyjzyp.png"/>
          <p:cNvPicPr>
            <a:picLocks noChangeAspect="1"/>
          </p:cNvPicPr>
          <p:nvPr/>
        </p:nvPicPr>
        <p:blipFill>
          <a:blip r:embed="rId4"/>
          <a:stretch>
            <a:fillRect/>
          </a:stretch>
        </p:blipFill>
        <p:spPr>
          <a:xfrm>
            <a:off x="2162175" y="3276153"/>
            <a:ext cx="304800" cy="304800"/>
          </a:xfrm>
          <a:prstGeom prst="rect">
            <a:avLst/>
          </a:prstGeom>
        </p:spPr>
      </p:pic>
      <p:sp>
        <p:nvSpPr>
          <p:cNvPr id="31" name="TextBox 30"/>
          <p:cNvSpPr txBox="1"/>
          <p:nvPr/>
        </p:nvSpPr>
        <p:spPr>
          <a:xfrm>
            <a:off x="228600" y="3695253"/>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Intelligent Root Cause Analysis</a:t>
            </a:r>
          </a:p>
          <a:p>
            <a:pPr algn="ctr">
              <a:spcAft>
                <a:spcPts val="1200"/>
              </a:spcAft>
            </a:pPr>
            <a:r>
              <a:rPr b="0" i="0" sz="1400">
                <a:solidFill>
                  <a:srgbClr val="1F2728"/>
                </a:solidFill>
                <a:latin typeface="Roboto"/>
              </a:rPr>
              <a:t>Use natural language processing and correlation algorithms to suggest probable causes for job failures.</a:t>
            </a:r>
          </a:p>
        </p:txBody>
      </p:sp>
      <p:sp>
        <p:nvSpPr>
          <p:cNvPr id="32" name="Rectangle 31"/>
          <p:cNvSpPr/>
          <p:nvPr/>
        </p:nvSpPr>
        <p:spPr>
          <a:xfrm>
            <a:off x="4591050" y="3276153"/>
            <a:ext cx="4171950" cy="157698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91050" y="3276153"/>
            <a:ext cx="4171950" cy="1576685"/>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24625" y="3276153"/>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24625" y="3276153"/>
            <a:ext cx="304800" cy="304800"/>
          </a:xfrm>
          <a:prstGeom prst="rect">
            <a:avLst/>
          </a:prstGeom>
          <a:noFill/>
          <a:ln>
            <a:noFill/>
          </a:ln>
        </p:spPr>
        <p:txBody>
          <a:bodyPr wrap="square" bIns="0" lIns="0" rIns="0" tIns="0" anchor="t">
            <a:spAutoFit/>
          </a:bodyPr>
          <a:lstStyle/>
          <a:p>
            <a:pPr algn="ctr"/>
          </a:p>
        </p:txBody>
      </p:sp>
      <p:pic>
        <p:nvPicPr>
          <p:cNvPr id="37" name="Picture 36" descr="tmpgsr8zi32.png"/>
          <p:cNvPicPr>
            <a:picLocks noChangeAspect="1"/>
          </p:cNvPicPr>
          <p:nvPr/>
        </p:nvPicPr>
        <p:blipFill>
          <a:blip r:embed="rId5"/>
          <a:stretch>
            <a:fillRect/>
          </a:stretch>
        </p:blipFill>
        <p:spPr>
          <a:xfrm>
            <a:off x="6524625" y="3276153"/>
            <a:ext cx="304800" cy="304800"/>
          </a:xfrm>
          <a:prstGeom prst="rect">
            <a:avLst/>
          </a:prstGeom>
        </p:spPr>
      </p:pic>
      <p:sp>
        <p:nvSpPr>
          <p:cNvPr id="38" name="TextBox 37"/>
          <p:cNvSpPr txBox="1"/>
          <p:nvPr/>
        </p:nvSpPr>
        <p:spPr>
          <a:xfrm>
            <a:off x="4591050" y="3695253"/>
            <a:ext cx="4171950" cy="228600"/>
          </a:xfrm>
          <a:prstGeom prst="rect">
            <a:avLst/>
          </a:prstGeom>
          <a:noFill/>
          <a:ln>
            <a:noFill/>
          </a:ln>
        </p:spPr>
        <p:txBody>
          <a:bodyPr wrap="square" bIns="0" lIns="0" rIns="0" tIns="0" anchor="t">
            <a:spAutoFit/>
          </a:bodyPr>
          <a:lstStyle/>
          <a:p>
            <a:pPr algn="ctr"/>
            <a:r>
              <a:rPr b="1" i="0" sz="1300">
                <a:solidFill>
                  <a:srgbClr val="1F2728"/>
                </a:solidFill>
                <a:latin typeface="Roboto"/>
              </a:rPr>
              <a:t>Self-Healing Workflows</a:t>
            </a:r>
          </a:p>
          <a:p>
            <a:pPr algn="ctr">
              <a:spcAft>
                <a:spcPts val="1200"/>
              </a:spcAft>
            </a:pPr>
            <a:r>
              <a:rPr b="0" i="0" sz="1400">
                <a:solidFill>
                  <a:srgbClr val="1F2728"/>
                </a:solidFill>
                <a:latin typeface="Roboto"/>
              </a:rPr>
              <a:t>Enable automated job restarts or dependency adjustments based on predefined recovery logic to minimize downtime.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rmAutofit/>
          </a:bodyPr>
          <a:lstStyle/>
          <a:p>
            <a:r>
              <a:t>Conclusion &amp; Next Steps</a:t>
            </a:r>
          </a:p>
        </p:txBody>
      </p:sp>
      <p:sp>
        <p:nvSpPr>
          <p:cNvPr id="4" name="Subtitle 3"/>
          <p:cNvSpPr>
            <a:spLocks noGrp="1"/>
          </p:cNvSpPr>
          <p:nvPr>
            <p:ph type="subTitle" idx="13"/>
          </p:nvPr>
        </p:nvSpPr>
        <p:spPr/>
        <p:txBody>
          <a:bodyPr>
            <a:normAutofit/>
          </a:bodyPr>
          <a:lstStyle/>
          <a:p>
            <a:r>
              <a:t>Driving Proactive, Intelligent Operations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616161"/>
                </a:solidFill>
                <a:latin typeface="Proxima Nova"/>
              </a:defRPr>
            </a:p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5344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53440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4142630" cy="33446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508670"/>
            <a:ext cx="4142630" cy="3065115"/>
          </a:xfrm>
          <a:prstGeom prst="rect">
            <a:avLst/>
          </a:prstGeom>
          <a:noFill/>
          <a:ln>
            <a:noFill/>
          </a:ln>
        </p:spPr>
        <p:txBody>
          <a:bodyPr wrap="square" bIns="190500" lIns="165100" rIns="0" tIns="0" anchor="t">
            <a:spAutoFit/>
          </a:bodyPr>
          <a:lstStyle/>
          <a:p>
            <a:pPr algn="l" marL="228600" indent="-91440">
              <a:spcBef>
                <a:spcPts val="0"/>
              </a:spcBef>
              <a:spcAft>
                <a:spcPts val="0"/>
              </a:spcAft>
              <a:buSzPct val="111111"/>
              <a:buFont typeface="Arial"/>
              <a:buChar char="•"/>
            </a:pPr>
            <a:r>
              <a:rPr b="1" i="0" sz="1500">
                <a:solidFill>
                  <a:srgbClr val="1F2728"/>
                </a:solidFill>
                <a:latin typeface="Roboto"/>
              </a:rPr>
              <a:t>Strategic Alignment:</a:t>
            </a:r>
            <a:r>
              <a:rPr b="0" i="0" sz="1500">
                <a:solidFill>
                  <a:srgbClr val="1F2728"/>
                </a:solidFill>
                <a:latin typeface="Roboto"/>
              </a:rPr>
              <a:t> The Autosys Monitoring Tool aligns with enterprise goals of operational excellence, reliability, and data-driven decision-making.</a:t>
            </a:r>
          </a:p>
          <a:p>
            <a:pPr lvl="1" algn="l" marL="228600" indent="-91440">
              <a:spcBef>
                <a:spcPts val="0"/>
              </a:spcBef>
              <a:spcAft>
                <a:spcPts val="0"/>
              </a:spcAft>
              <a:buSzPct val="111111"/>
              <a:buFont typeface="Arial"/>
              <a:buChar char="•"/>
            </a:pPr>
            <a:r>
              <a:rPr b="1" i="0" sz="1500">
                <a:solidFill>
                  <a:srgbClr val="1F2728"/>
                </a:solidFill>
                <a:latin typeface="Roboto"/>
              </a:rPr>
              <a:t>Immediate Priorities:</a:t>
            </a:r>
            <a:r>
              <a:rPr b="0" i="0" sz="1500">
                <a:solidFill>
                  <a:srgbClr val="1F2728"/>
                </a:solidFill>
                <a:latin typeface="Roboto"/>
              </a:rPr>
              <a:t> Finalize testing, deploy dashboards, and establish governance processes for alert management and ownership.</a:t>
            </a:r>
          </a:p>
          <a:p>
            <a:pPr lvl="1" algn="l" marL="228600" indent="-91440">
              <a:spcBef>
                <a:spcPts val="0"/>
              </a:spcBef>
              <a:spcAft>
                <a:spcPts val="0"/>
              </a:spcAft>
              <a:buSzPct val="111111"/>
              <a:buFont typeface="Arial"/>
              <a:buChar char="•"/>
            </a:pPr>
            <a:r>
              <a:rPr b="1" i="0" sz="1500">
                <a:solidFill>
                  <a:srgbClr val="1F2728"/>
                </a:solidFill>
                <a:latin typeface="Roboto"/>
              </a:rPr>
              <a:t>Future Direction:</a:t>
            </a:r>
            <a:r>
              <a:rPr b="0" i="0" sz="1500">
                <a:solidFill>
                  <a:srgbClr val="1F2728"/>
                </a:solidFill>
                <a:latin typeface="Roboto"/>
              </a:rPr>
              <a:t> Integrate AI-based predictive insights, expand coverage across systems, and mature toward autonomous operations.</a:t>
            </a:r>
          </a:p>
        </p:txBody>
      </p:sp>
      <p:sp>
        <p:nvSpPr>
          <p:cNvPr id="12" name="Rectangle 11"/>
          <p:cNvSpPr/>
          <p:nvPr/>
        </p:nvSpPr>
        <p:spPr>
          <a:xfrm>
            <a:off x="4620071" y="1508670"/>
            <a:ext cx="414263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0071" y="1508670"/>
            <a:ext cx="4142630" cy="2603599"/>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20071" y="1508670"/>
            <a:ext cx="4142630" cy="2332136"/>
          </a:xfrm>
          <a:prstGeom prst="rect">
            <a:avLst/>
          </a:prstGeom>
          <a:noFill/>
          <a:ln>
            <a:noFill/>
          </a:ln>
        </p:spPr>
        <p:txBody>
          <a:bodyPr wrap="square" bIns="0" lIns="0" rIns="0" tIns="0" anchor="t">
            <a:spAutoFit/>
          </a:bodyPr>
          <a:lstStyle/>
          <a:p>
            <a:pPr algn="l"/>
          </a:p>
        </p:txBody>
      </p:sp>
      <p:pic>
        <p:nvPicPr>
          <p:cNvPr id="15" name="Picture 14" descr="tmppcqq7rbs.png"/>
          <p:cNvPicPr>
            <a:picLocks noChangeAspect="1"/>
          </p:cNvPicPr>
          <p:nvPr/>
        </p:nvPicPr>
        <p:blipFill>
          <a:blip r:embed="rId2"/>
          <a:stretch>
            <a:fillRect/>
          </a:stretch>
        </p:blipFill>
        <p:spPr>
          <a:xfrm>
            <a:off x="4620071" y="1508670"/>
            <a:ext cx="4142630" cy="2332136"/>
          </a:xfrm>
          <a:prstGeom prst="rect">
            <a:avLst/>
          </a:prstGeom>
        </p:spPr>
      </p:pic>
      <p:sp>
        <p:nvSpPr>
          <p:cNvPr id="16" name="Rectangle 15"/>
          <p:cNvSpPr/>
          <p:nvPr/>
        </p:nvSpPr>
        <p:spPr>
          <a:xfrm>
            <a:off x="4620071" y="3917007"/>
            <a:ext cx="4142630" cy="19526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0071" y="3917007"/>
            <a:ext cx="4142630" cy="195262"/>
          </a:xfrm>
          <a:prstGeom prst="rect">
            <a:avLst/>
          </a:prstGeom>
          <a:noFill/>
          <a:ln>
            <a:noFill/>
          </a:ln>
        </p:spPr>
        <p:txBody>
          <a:bodyPr wrap="square" bIns="0" lIns="0" rIns="0" tIns="0" anchor="t">
            <a:spAutoFit/>
          </a:bodyPr>
          <a:lstStyle/>
          <a:p>
            <a:pPr algn="r"/>
            <a:r>
              <a:rPr b="0" i="0" sz="1000">
                <a:solidFill>
                  <a:srgbClr val="1F2728"/>
                </a:solidFill>
                <a:latin typeface="Roboto"/>
              </a:rPr>
              <a:t>Photo by Cytonn Photography on Unsplash</a:t>
            </a:r>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Words>
  <Application>Microsoft Macintosh PowerPoint</Application>
  <PresentationFormat>On-screen Show (16:9)</PresentationFormat>
  <Paragraphs>1</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Proxima Nova</vt:lpstr>
      <vt:lpstr>Spearmint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Lightstone GmbH</cp:lastModifiedBy>
  <cp:revision>3</cp:revision>
  <dcterms:modified xsi:type="dcterms:W3CDTF">2024-08-19T12:09:31Z</dcterms:modified>
</cp:coreProperties>
</file>